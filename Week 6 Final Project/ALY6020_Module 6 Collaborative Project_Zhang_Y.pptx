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13"/>
  </p:notesMasterIdLst>
  <p:sldIdLst>
    <p:sldId id="256" r:id="rId2"/>
    <p:sldId id="270" r:id="rId3"/>
    <p:sldId id="271" r:id="rId4"/>
    <p:sldId id="272" r:id="rId5"/>
    <p:sldId id="280" r:id="rId6"/>
    <p:sldId id="275" r:id="rId7"/>
    <p:sldId id="274" r:id="rId8"/>
    <p:sldId id="276" r:id="rId9"/>
    <p:sldId id="277" r:id="rId10"/>
    <p:sldId id="279"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B7B5"/>
    <a:srgbClr val="ED6C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71"/>
    <p:restoredTop sz="74830"/>
  </p:normalViewPr>
  <p:slideViewPr>
    <p:cSldViewPr snapToGrid="0" snapToObjects="1">
      <p:cViewPr varScale="1">
        <p:scale>
          <a:sx n="94" d="100"/>
          <a:sy n="94" d="100"/>
        </p:scale>
        <p:origin x="216"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595A7B-E3D7-BD48-8375-24D08103C7F8}" type="datetimeFigureOut">
              <a:rPr lang="en-US" smtClean="0"/>
              <a:t>10/24/20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3B83D4-E2DD-6E49-945A-8B0B8736D440}" type="slidenum">
              <a:rPr lang="en-US" smtClean="0"/>
              <a:t>‹#›</a:t>
            </a:fld>
            <a:endParaRPr lang="en-US"/>
          </a:p>
        </p:txBody>
      </p:sp>
    </p:spTree>
    <p:extLst>
      <p:ext uri="{BB962C8B-B14F-4D97-AF65-F5344CB8AC3E}">
        <p14:creationId xmlns:p14="http://schemas.microsoft.com/office/powerpoint/2010/main" val="3254866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3B83D4-E2DD-6E49-945A-8B0B8736D440}" type="slidenum">
              <a:rPr lang="en-US" smtClean="0"/>
              <a:t>0</a:t>
            </a:fld>
            <a:endParaRPr lang="en-US"/>
          </a:p>
        </p:txBody>
      </p:sp>
    </p:spTree>
    <p:extLst>
      <p:ext uri="{BB962C8B-B14F-4D97-AF65-F5344CB8AC3E}">
        <p14:creationId xmlns:p14="http://schemas.microsoft.com/office/powerpoint/2010/main" val="25318315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 Disease data set contains 302 observations of 14 variables. The target variable is on the last column: hd. This is the diagnosis of patient whether they are healthy or unhealthy. We are going to use classification algorithm to predict the diagnosis based on 13 variables listed on the image. </a:t>
            </a:r>
          </a:p>
        </p:txBody>
      </p:sp>
      <p:sp>
        <p:nvSpPr>
          <p:cNvPr id="4" name="Slide Number Placeholder 3"/>
          <p:cNvSpPr>
            <a:spLocks noGrp="1"/>
          </p:cNvSpPr>
          <p:nvPr>
            <p:ph type="sldNum" sz="quarter" idx="5"/>
          </p:nvPr>
        </p:nvSpPr>
        <p:spPr/>
        <p:txBody>
          <a:bodyPr/>
          <a:lstStyle/>
          <a:p>
            <a:fld id="{BC3B83D4-E2DD-6E49-945A-8B0B8736D440}" type="slidenum">
              <a:rPr lang="en-US" smtClean="0"/>
              <a:t>2</a:t>
            </a:fld>
            <a:endParaRPr lang="en-US"/>
          </a:p>
        </p:txBody>
      </p:sp>
    </p:spTree>
    <p:extLst>
      <p:ext uri="{BB962C8B-B14F-4D97-AF65-F5344CB8AC3E}">
        <p14:creationId xmlns:p14="http://schemas.microsoft.com/office/powerpoint/2010/main" val="28202110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this course, we’ve learned 5 classification algorithms. They are k-mean Nearest Neighbors (k-NN), Naïve Bayes, Decision Tree, Random Forest and Logistic Model.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this report, we are going to go through the heart disease data set and classify the result of diagnosis by three different algorithms: Decision trees, Random forest, and Logistic model.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The Decision Trees build flowchart structures.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The Random forests are made out of decision trees. It combines the simplistic of Decision trees with flexibility resulting in vast improvement in accuracy.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Logistic model belongs to generalized linear model (GLM) family. It predicts True or False for the target variables rather than general linear models.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are going to train these three models and compare their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BC3B83D4-E2DD-6E49-945A-8B0B8736D440}" type="slidenum">
              <a:rPr lang="en-US" smtClean="0"/>
              <a:t>3</a:t>
            </a:fld>
            <a:endParaRPr lang="en-US"/>
          </a:p>
        </p:txBody>
      </p:sp>
    </p:spTree>
    <p:extLst>
      <p:ext uri="{BB962C8B-B14F-4D97-AF65-F5344CB8AC3E}">
        <p14:creationId xmlns:p14="http://schemas.microsoft.com/office/powerpoint/2010/main" val="27732024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Import the data and add label on each column.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we from the variables that </a:t>
            </a:r>
            <a:r>
              <a:rPr lang="en-US" sz="1200" kern="1200" dirty="0">
                <a:solidFill>
                  <a:schemeClr val="tx1"/>
                </a:solidFill>
                <a:effectLst/>
                <a:latin typeface="+mn-lt"/>
                <a:ea typeface="+mn-ea"/>
                <a:cs typeface="+mn-cs"/>
              </a:rPr>
              <a:t>the absolute numbers of each column could be very different from others.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Especially there are many “0”s in some of the columns. This is not easy for k-NN since we need to normalize the numeric data.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Naïve Bayes is more focus on text content rather than numeric data.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Thus in this case, we are going to use Decision tree, Random forest and Logistic model to solve the prediction of heart disease. </a:t>
            </a:r>
            <a:endParaRPr lang="en-US" dirty="0"/>
          </a:p>
        </p:txBody>
      </p:sp>
      <p:sp>
        <p:nvSpPr>
          <p:cNvPr id="4" name="Slide Number Placeholder 3"/>
          <p:cNvSpPr>
            <a:spLocks noGrp="1"/>
          </p:cNvSpPr>
          <p:nvPr>
            <p:ph type="sldNum" sz="quarter" idx="5"/>
          </p:nvPr>
        </p:nvSpPr>
        <p:spPr/>
        <p:txBody>
          <a:bodyPr/>
          <a:lstStyle/>
          <a:p>
            <a:fld id="{BC3B83D4-E2DD-6E49-945A-8B0B8736D440}" type="slidenum">
              <a:rPr lang="en-US" smtClean="0"/>
              <a:t>4</a:t>
            </a:fld>
            <a:endParaRPr lang="en-US"/>
          </a:p>
        </p:txBody>
      </p:sp>
    </p:spTree>
    <p:extLst>
      <p:ext uri="{BB962C8B-B14F-4D97-AF65-F5344CB8AC3E}">
        <p14:creationId xmlns:p14="http://schemas.microsoft.com/office/powerpoint/2010/main" val="26724970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Before we dive into the model generating, let’s first clean up the data. The structure of data on the left.</a:t>
            </a:r>
          </a:p>
          <a:p>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Convert all “?” to “NA”s</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Convert variables to factor levels</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Find out missing data and delete them if the number of missing data is not large</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Check out bias</a:t>
            </a:r>
          </a:p>
          <a:p>
            <a:pPr marL="171450" indent="-171450">
              <a:buFont typeface="Arial" panose="020B0604020202020204" pitchFamily="34" charset="0"/>
              <a:buChar char="•"/>
            </a:pPr>
            <a:endParaRPr lang="en-US" sz="1200" kern="1200" dirty="0">
              <a:solidFill>
                <a:schemeClr val="tx1"/>
              </a:solidFill>
              <a:effectLst/>
              <a:latin typeface="+mn-lt"/>
              <a:ea typeface="+mn-ea"/>
              <a:cs typeface="+mn-cs"/>
            </a:endParaRPr>
          </a:p>
          <a:p>
            <a:pPr marL="0" indent="0">
              <a:buFont typeface="Arial" panose="020B0604020202020204" pitchFamily="34" charset="0"/>
              <a:buNone/>
            </a:pPr>
            <a:r>
              <a:rPr lang="en-US" sz="1200" kern="1200" dirty="0">
                <a:solidFill>
                  <a:schemeClr val="tx1"/>
                </a:solidFill>
                <a:effectLst/>
                <a:latin typeface="+mn-lt"/>
                <a:ea typeface="+mn-ea"/>
                <a:cs typeface="+mn-cs"/>
              </a:rPr>
              <a:t>Then we got the new structure on the right</a:t>
            </a:r>
            <a:endParaRPr lang="en-US" dirty="0"/>
          </a:p>
        </p:txBody>
      </p:sp>
      <p:sp>
        <p:nvSpPr>
          <p:cNvPr id="4" name="Slide Number Placeholder 3"/>
          <p:cNvSpPr>
            <a:spLocks noGrp="1"/>
          </p:cNvSpPr>
          <p:nvPr>
            <p:ph type="sldNum" sz="quarter" idx="5"/>
          </p:nvPr>
        </p:nvSpPr>
        <p:spPr/>
        <p:txBody>
          <a:bodyPr/>
          <a:lstStyle/>
          <a:p>
            <a:fld id="{BC3B83D4-E2DD-6E49-945A-8B0B8736D440}" type="slidenum">
              <a:rPr lang="en-US" smtClean="0"/>
              <a:t>5</a:t>
            </a:fld>
            <a:endParaRPr lang="en-US"/>
          </a:p>
        </p:txBody>
      </p:sp>
    </p:spTree>
    <p:extLst>
      <p:ext uri="{BB962C8B-B14F-4D97-AF65-F5344CB8AC3E}">
        <p14:creationId xmlns:p14="http://schemas.microsoft.com/office/powerpoint/2010/main" val="3154409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Step 1: creating random training </a:t>
            </a:r>
            <a:r>
              <a:rPr lang="en-US" dirty="0"/>
              <a:t>(900 variables) </a:t>
            </a:r>
            <a:r>
              <a:rPr lang="en-US" b="1" dirty="0"/>
              <a:t>and test </a:t>
            </a:r>
            <a:r>
              <a:rPr lang="en-US" dirty="0"/>
              <a:t>(100 variables) </a:t>
            </a:r>
            <a:r>
              <a:rPr lang="en-US" b="1" dirty="0"/>
              <a:t>datasets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b="1" dirty="0"/>
              <a:t>Step 2: training a model on the data</a:t>
            </a:r>
            <a:r>
              <a:rPr lang="en-US" dirty="0"/>
              <a:t>. Use C5.0 function. The tree size that we’ve get is 12. </a:t>
            </a:r>
            <a:r>
              <a:rPr lang="en-US" sz="1200" kern="1200" dirty="0">
                <a:solidFill>
                  <a:schemeClr val="tx1"/>
                </a:solidFill>
                <a:effectLst/>
                <a:latin typeface="+mn-lt"/>
                <a:ea typeface="+mn-ea"/>
                <a:cs typeface="+mn-cs"/>
              </a:rPr>
              <a:t>In this page we could see that the 90.2% of training data are correctly classified, which is impressive. The confusion matrix showing how the 9.8% errors allocated. </a:t>
            </a:r>
          </a:p>
          <a:p>
            <a:pPr marL="171450" indent="-171450">
              <a:buFont typeface="Arial" panose="020B0604020202020204" pitchFamily="34" charset="0"/>
              <a:buChar char="•"/>
            </a:pPr>
            <a:endParaRPr lang="en-U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dirty="0">
                <a:solidFill>
                  <a:schemeClr val="tx1"/>
                </a:solidFill>
                <a:effectLst/>
                <a:latin typeface="+mn-lt"/>
                <a:ea typeface="+mn-ea"/>
                <a:cs typeface="+mn-cs"/>
              </a:rPr>
              <a:t>Step 3: evaluating model performance</a:t>
            </a:r>
            <a:r>
              <a:rPr lang="en-US" sz="1200" kern="1200" dirty="0">
                <a:solidFill>
                  <a:schemeClr val="tx1"/>
                </a:solidFill>
                <a:effectLst/>
                <a:latin typeface="+mn-lt"/>
                <a:ea typeface="+mn-ea"/>
                <a:cs typeface="+mn-cs"/>
              </a:rPr>
              <a:t>. The test results are showing on the left-hand side. There are 31 observations in test data. The accuracy rate is about 68%, which is lower than training data. The false positive rate is 36%, which is relatively lower than false negative rate of 30%. Since the accuracy rate is low, this model needs to be improved.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dirty="0">
                <a:solidFill>
                  <a:schemeClr val="tx1"/>
                </a:solidFill>
                <a:effectLst/>
                <a:latin typeface="+mn-lt"/>
                <a:ea typeface="+mn-ea"/>
                <a:cs typeface="+mn-cs"/>
              </a:rPr>
              <a:t>Step 4: improving model performance</a:t>
            </a:r>
            <a:r>
              <a:rPr lang="en-US" sz="1200" kern="1200" dirty="0">
                <a:solidFill>
                  <a:schemeClr val="tx1"/>
                </a:solidFill>
                <a:effectLst/>
                <a:latin typeface="+mn-lt"/>
                <a:ea typeface="+mn-ea"/>
                <a:cs typeface="+mn-cs"/>
              </a:rPr>
              <a:t>. Using boost 10 vector by adding an additional trials parameter to limit the upper number of trees when it realized that no more trials were necessary. The improved model confusion matrix is shown on the right-hand side. The result of this adjusted model performs slightly better of the original. The accuracy rate is now 74% rather than 68%. But still lower than expected.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C3B83D4-E2DD-6E49-945A-8B0B8736D440}" type="slidenum">
              <a:rPr lang="en-US" smtClean="0"/>
              <a:t>6</a:t>
            </a:fld>
            <a:endParaRPr lang="en-US"/>
          </a:p>
        </p:txBody>
      </p:sp>
    </p:spTree>
    <p:extLst>
      <p:ext uri="{BB962C8B-B14F-4D97-AF65-F5344CB8AC3E}">
        <p14:creationId xmlns:p14="http://schemas.microsoft.com/office/powerpoint/2010/main" val="1044806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Step 1: training the model</a:t>
            </a:r>
            <a:r>
              <a:rPr lang="en-US" dirty="0"/>
              <a:t>. </a:t>
            </a:r>
            <a:r>
              <a:rPr lang="en-US" sz="1200" kern="1200" dirty="0">
                <a:solidFill>
                  <a:schemeClr val="tx1"/>
                </a:solidFill>
                <a:effectLst/>
                <a:latin typeface="+mn-lt"/>
                <a:ea typeface="+mn-ea"/>
                <a:cs typeface="+mn-cs"/>
              </a:rPr>
              <a:t>We are going to use all the 13 variables to train the model. The number of trees is going to remain 500. The number of variables for each internal node is set to 3. The trace of each evaluation is set to 100. The OOB (stands for Out-</a:t>
            </a:r>
            <a:r>
              <a:rPr lang="en-US" sz="1200" kern="1200" dirty="0" err="1">
                <a:solidFill>
                  <a:schemeClr val="tx1"/>
                </a:solidFill>
                <a:effectLst/>
                <a:latin typeface="+mn-lt"/>
                <a:ea typeface="+mn-ea"/>
                <a:cs typeface="+mn-cs"/>
              </a:rPr>
              <a:t>Of_Bag</a:t>
            </a:r>
            <a:r>
              <a:rPr lang="en-US" sz="1200" kern="1200" dirty="0">
                <a:solidFill>
                  <a:schemeClr val="tx1"/>
                </a:solidFill>
                <a:effectLst/>
                <a:latin typeface="+mn-lt"/>
                <a:ea typeface="+mn-ea"/>
                <a:cs typeface="+mn-cs"/>
              </a:rPr>
              <a:t>) error rate indicating that estimation is improving by decreasing trend as low as 18.52%. The stay about number meaning that the estimate is as good as they are going to get.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dirty="0">
                <a:solidFill>
                  <a:schemeClr val="tx1"/>
                </a:solidFill>
                <a:effectLst/>
                <a:latin typeface="+mn-lt"/>
                <a:ea typeface="+mn-ea"/>
                <a:cs typeface="+mn-cs"/>
              </a:rPr>
              <a:t>Step 2: evaluating model performance</a:t>
            </a:r>
            <a:r>
              <a:rPr lang="en-US" sz="1200" kern="1200" dirty="0">
                <a:solidFill>
                  <a:schemeClr val="tx1"/>
                </a:solidFill>
                <a:effectLst/>
                <a:latin typeface="+mn-lt"/>
                <a:ea typeface="+mn-ea"/>
                <a:cs typeface="+mn-cs"/>
              </a:rPr>
              <a:t>. To evaluate the performance of the model, simply use print() function to get a confusion matrix shown on the left-hand side. The OOB error estimate of this model is 18.92%, which is much better than the result of Decision trees. The false positive rate is about 20%.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dirty="0">
                <a:solidFill>
                  <a:schemeClr val="tx1"/>
                </a:solidFill>
                <a:effectLst/>
                <a:latin typeface="+mn-lt"/>
                <a:ea typeface="+mn-ea"/>
                <a:cs typeface="+mn-cs"/>
              </a:rPr>
              <a:t>Step 3: Random forest and SVM comparison</a:t>
            </a:r>
            <a:r>
              <a:rPr lang="en-US" sz="1200" kern="1200" dirty="0">
                <a:solidFill>
                  <a:schemeClr val="tx1"/>
                </a:solidFill>
                <a:effectLst/>
                <a:latin typeface="+mn-lt"/>
                <a:ea typeface="+mn-ea"/>
                <a:cs typeface="+mn-cs"/>
              </a:rPr>
              <a:t>. In this step, we are going to compare the random forest with support vector machines (SVM). We are going to use 10 times 10-fold cross-validation to generate a vector called </a:t>
            </a:r>
            <a:r>
              <a:rPr lang="en-US" sz="1200" kern="1200" dirty="0" err="1">
                <a:solidFill>
                  <a:schemeClr val="tx1"/>
                </a:solidFill>
                <a:effectLst/>
                <a:latin typeface="+mn-lt"/>
                <a:ea typeface="+mn-ea"/>
                <a:cs typeface="+mn-cs"/>
              </a:rPr>
              <a:t>error.SVM</a:t>
            </a:r>
            <a:r>
              <a:rPr lang="en-US" sz="1200" kern="1200" dirty="0">
                <a:solidFill>
                  <a:schemeClr val="tx1"/>
                </a:solidFill>
                <a:effectLst/>
                <a:latin typeface="+mn-lt"/>
                <a:ea typeface="+mn-ea"/>
                <a:cs typeface="+mn-cs"/>
              </a:rPr>
              <a:t>. All the variables will be considered with cost equals to 10 and gamma equals to 1.5. From the two summaries we could see on the right-hand side, that Random forest returns much lower error rate than SVM. Therefore, the random forest compares favorably with SVM. So, the model of Random forest is better accepted in this case. The accuracy rate is 81.08%.</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C3B83D4-E2DD-6E49-945A-8B0B8736D440}" type="slidenum">
              <a:rPr lang="en-US" smtClean="0"/>
              <a:t>7</a:t>
            </a:fld>
            <a:endParaRPr lang="en-US"/>
          </a:p>
        </p:txBody>
      </p:sp>
    </p:spTree>
    <p:extLst>
      <p:ext uri="{BB962C8B-B14F-4D97-AF65-F5344CB8AC3E}">
        <p14:creationId xmlns:p14="http://schemas.microsoft.com/office/powerpoint/2010/main" val="42862399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Step 1: training the logistic model and get the summary</a:t>
            </a:r>
            <a:r>
              <a:rPr lang="en-US" dirty="0"/>
              <a:t>. </a:t>
            </a:r>
            <a:r>
              <a:rPr lang="en-US" sz="1200" kern="1200" dirty="0">
                <a:solidFill>
                  <a:schemeClr val="tx1"/>
                </a:solidFill>
                <a:effectLst/>
                <a:latin typeface="+mn-lt"/>
                <a:ea typeface="+mn-ea"/>
                <a:cs typeface="+mn-cs"/>
              </a:rPr>
              <a:t>The first line has the original call to the </a:t>
            </a:r>
            <a:r>
              <a:rPr lang="en-US" sz="1200" kern="1200" dirty="0" err="1">
                <a:solidFill>
                  <a:schemeClr val="tx1"/>
                </a:solidFill>
                <a:effectLst/>
                <a:latin typeface="+mn-lt"/>
                <a:ea typeface="+mn-ea"/>
                <a:cs typeface="+mn-cs"/>
              </a:rPr>
              <a:t>glm</a:t>
            </a:r>
            <a:r>
              <a:rPr lang="en-US" sz="1200" kern="1200" dirty="0">
                <a:solidFill>
                  <a:schemeClr val="tx1"/>
                </a:solidFill>
                <a:effectLst/>
                <a:latin typeface="+mn-lt"/>
                <a:ea typeface="+mn-ea"/>
                <a:cs typeface="+mn-cs"/>
              </a:rPr>
              <a:t>() function. This formula syntax, </a:t>
            </a:r>
            <a:r>
              <a:rPr lang="en-US" sz="1200" kern="1200" dirty="0" err="1">
                <a:solidFill>
                  <a:schemeClr val="tx1"/>
                </a:solidFill>
                <a:effectLst/>
                <a:latin typeface="+mn-lt"/>
                <a:ea typeface="+mn-ea"/>
                <a:cs typeface="+mn-cs"/>
              </a:rPr>
              <a:t>hd</a:t>
            </a:r>
            <a:r>
              <a:rPr lang="en-US" sz="1200" kern="1200" dirty="0">
                <a:solidFill>
                  <a:schemeClr val="tx1"/>
                </a:solidFill>
                <a:effectLst/>
                <a:latin typeface="+mn-lt"/>
                <a:ea typeface="+mn-ea"/>
                <a:cs typeface="+mn-cs"/>
              </a:rPr>
              <a:t> ~ ., meaning all of the variables are considered. The second line gives a summary of the deviance residuals. They look good since they are close to being centered on 0 and are roughly symmetrical.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The p-value of age is 0.36, which is much higher than 0.05. This indicates age isn’t a useful predictor. The median age in our dataset was 56, so most of the folks were pretty old and that explains why it wasn’t very useful. Gender on the other hand, is a good predictor since the p-value is 0.00267. A small p-value alone isn’t interesting, we also want large effect sizes, and that’s what the log(odds) and log(odds ratio) tells us.</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Step 2: visualize the model</a:t>
            </a:r>
            <a:r>
              <a:rPr lang="en-US" dirty="0"/>
              <a:t>. </a:t>
            </a:r>
            <a:r>
              <a:rPr lang="en-US" sz="1200" kern="1200" dirty="0">
                <a:solidFill>
                  <a:schemeClr val="tx1"/>
                </a:solidFill>
                <a:effectLst/>
                <a:latin typeface="+mn-lt"/>
                <a:ea typeface="+mn-ea"/>
                <a:cs typeface="+mn-cs"/>
              </a:rPr>
              <a:t>Most of the patients with heart disease in turquoise are predicted to have a high probability of having heart disease. And most of the patients without heart disease in pink are predicted to have a low probability of having heart disease.  So, the logistic regression model has done a good job in prediction. </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p:txBody>
      </p:sp>
      <p:sp>
        <p:nvSpPr>
          <p:cNvPr id="4" name="Slide Number Placeholder 3"/>
          <p:cNvSpPr>
            <a:spLocks noGrp="1"/>
          </p:cNvSpPr>
          <p:nvPr>
            <p:ph type="sldNum" sz="quarter" idx="5"/>
          </p:nvPr>
        </p:nvSpPr>
        <p:spPr/>
        <p:txBody>
          <a:bodyPr/>
          <a:lstStyle/>
          <a:p>
            <a:fld id="{BC3B83D4-E2DD-6E49-945A-8B0B8736D440}" type="slidenum">
              <a:rPr lang="en-US" smtClean="0"/>
              <a:t>8</a:t>
            </a:fld>
            <a:endParaRPr lang="en-US"/>
          </a:p>
        </p:txBody>
      </p:sp>
    </p:spTree>
    <p:extLst>
      <p:ext uri="{BB962C8B-B14F-4D97-AF65-F5344CB8AC3E}">
        <p14:creationId xmlns:p14="http://schemas.microsoft.com/office/powerpoint/2010/main" val="34699780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this report we practiced three classification methods, the Decision trees, Random forests, and Logistic regression model using the same data. We have choose these three methods out of the characteristic of our data. We used 13 variables to classify the status of heart disease whether the patient is healthy or unhealthy. In practice, healthy provider would spend lots of time to make diagnoses. With help from machine learning, the efficiency would be improved dramatically. After employing these three algorithms, we’ve got results of accuracy rate as 74%, 81%, and 52% respectively. Thus, the random forest could be a most accepted way to make the prediction.</a:t>
            </a:r>
            <a:endParaRPr lang="en-US" dirty="0"/>
          </a:p>
        </p:txBody>
      </p:sp>
      <p:sp>
        <p:nvSpPr>
          <p:cNvPr id="4" name="Slide Number Placeholder 3"/>
          <p:cNvSpPr>
            <a:spLocks noGrp="1"/>
          </p:cNvSpPr>
          <p:nvPr>
            <p:ph type="sldNum" sz="quarter" idx="5"/>
          </p:nvPr>
        </p:nvSpPr>
        <p:spPr/>
        <p:txBody>
          <a:bodyPr/>
          <a:lstStyle/>
          <a:p>
            <a:fld id="{BC3B83D4-E2DD-6E49-945A-8B0B8736D440}" type="slidenum">
              <a:rPr lang="en-US" smtClean="0"/>
              <a:t>9</a:t>
            </a:fld>
            <a:endParaRPr lang="en-US"/>
          </a:p>
        </p:txBody>
      </p:sp>
    </p:spTree>
    <p:extLst>
      <p:ext uri="{BB962C8B-B14F-4D97-AF65-F5344CB8AC3E}">
        <p14:creationId xmlns:p14="http://schemas.microsoft.com/office/powerpoint/2010/main" val="28209520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In</a:t>
            </a:r>
            <a:r>
              <a:rPr lang="zh-CN" altLang="en-US" dirty="0"/>
              <a:t> </a:t>
            </a:r>
            <a:r>
              <a:rPr lang="en-US" altLang="zh-CN" dirty="0"/>
              <a:t>conclusion,</a:t>
            </a:r>
            <a:r>
              <a:rPr lang="zh-CN" altLang="en-US" dirty="0"/>
              <a:t> </a:t>
            </a:r>
            <a:r>
              <a:rPr lang="en-US" altLang="zh-CN" sz="1200" kern="1200" dirty="0">
                <a:solidFill>
                  <a:schemeClr val="tx1"/>
                </a:solidFill>
                <a:effectLst/>
                <a:latin typeface="+mn-lt"/>
                <a:ea typeface="+mn-ea"/>
                <a:cs typeface="+mn-cs"/>
              </a:rPr>
              <a:t>a</a:t>
            </a:r>
            <a:r>
              <a:rPr lang="en-US" sz="1200" kern="1200" dirty="0">
                <a:solidFill>
                  <a:schemeClr val="tx1"/>
                </a:solidFill>
                <a:effectLst/>
                <a:latin typeface="+mn-lt"/>
                <a:ea typeface="+mn-ea"/>
                <a:cs typeface="+mn-cs"/>
              </a:rPr>
              <a:t>ll the 4 areas are residential. Data indicates increasing trend in A7 and C11 districts since 2015. Larceny cases from E5 and E18 districts reported at nights means people get robbed at home by the time of bed. These are considerable situation in the East Boston and southeastern area. </a:t>
            </a:r>
          </a:p>
          <a:p>
            <a:endParaRPr lang="en-US" dirty="0"/>
          </a:p>
        </p:txBody>
      </p:sp>
      <p:sp>
        <p:nvSpPr>
          <p:cNvPr id="4" name="Slide Number Placeholder 3"/>
          <p:cNvSpPr>
            <a:spLocks noGrp="1"/>
          </p:cNvSpPr>
          <p:nvPr>
            <p:ph type="sldNum" sz="quarter" idx="5"/>
          </p:nvPr>
        </p:nvSpPr>
        <p:spPr/>
        <p:txBody>
          <a:bodyPr/>
          <a:lstStyle/>
          <a:p>
            <a:fld id="{BC3B83D4-E2DD-6E49-945A-8B0B8736D440}" type="slidenum">
              <a:rPr lang="en-US" smtClean="0"/>
              <a:t>10</a:t>
            </a:fld>
            <a:endParaRPr lang="en-US"/>
          </a:p>
        </p:txBody>
      </p:sp>
    </p:spTree>
    <p:extLst>
      <p:ext uri="{BB962C8B-B14F-4D97-AF65-F5344CB8AC3E}">
        <p14:creationId xmlns:p14="http://schemas.microsoft.com/office/powerpoint/2010/main" val="1479828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3991B-8FD3-1641-98B4-FEF0FB2F71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ADE508F-854E-774D-B8BF-45C7B3E145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F11457-A324-5940-B4E0-A8E61BF76488}"/>
              </a:ext>
            </a:extLst>
          </p:cNvPr>
          <p:cNvSpPr>
            <a:spLocks noGrp="1"/>
          </p:cNvSpPr>
          <p:nvPr>
            <p:ph type="dt" sz="half" idx="10"/>
          </p:nvPr>
        </p:nvSpPr>
        <p:spPr/>
        <p:txBody>
          <a:bodyPr/>
          <a:lstStyle/>
          <a:p>
            <a:fld id="{E34A8754-26EF-CD45-8EEA-663DF2E0730E}" type="datetime1">
              <a:rPr lang="en-US" smtClean="0"/>
              <a:t>10/24/20</a:t>
            </a:fld>
            <a:endParaRPr lang="en-US"/>
          </a:p>
        </p:txBody>
      </p:sp>
      <p:sp>
        <p:nvSpPr>
          <p:cNvPr id="5" name="Footer Placeholder 4">
            <a:extLst>
              <a:ext uri="{FF2B5EF4-FFF2-40B4-BE49-F238E27FC236}">
                <a16:creationId xmlns:a16="http://schemas.microsoft.com/office/drawing/2014/main" id="{86C6E31A-FAC7-664B-BF9B-CA778B3238DC}"/>
              </a:ext>
            </a:extLst>
          </p:cNvPr>
          <p:cNvSpPr>
            <a:spLocks noGrp="1"/>
          </p:cNvSpPr>
          <p:nvPr>
            <p:ph type="ftr" sz="quarter" idx="11"/>
          </p:nvPr>
        </p:nvSpPr>
        <p:spPr/>
        <p:txBody>
          <a:bodyPr/>
          <a:lstStyle/>
          <a:p>
            <a:r>
              <a:rPr lang="en-US" dirty="0"/>
              <a:t>Ethical Visualizations Presentation</a:t>
            </a:r>
          </a:p>
        </p:txBody>
      </p:sp>
      <p:sp>
        <p:nvSpPr>
          <p:cNvPr id="6" name="Slide Number Placeholder 5">
            <a:extLst>
              <a:ext uri="{FF2B5EF4-FFF2-40B4-BE49-F238E27FC236}">
                <a16:creationId xmlns:a16="http://schemas.microsoft.com/office/drawing/2014/main" id="{5FD89476-BE57-A646-89AF-4A4D5B420D11}"/>
              </a:ext>
            </a:extLst>
          </p:cNvPr>
          <p:cNvSpPr>
            <a:spLocks noGrp="1"/>
          </p:cNvSpPr>
          <p:nvPr>
            <p:ph type="sldNum" sz="quarter" idx="12"/>
          </p:nvPr>
        </p:nvSpPr>
        <p:spPr/>
        <p:txBody>
          <a:bodyPr/>
          <a:lstStyle/>
          <a:p>
            <a:fld id="{5E165751-051E-4045-BFA7-BDB2DD1CABB7}" type="slidenum">
              <a:rPr lang="en-US" smtClean="0"/>
              <a:t>‹#›</a:t>
            </a:fld>
            <a:endParaRPr lang="en-US"/>
          </a:p>
        </p:txBody>
      </p:sp>
    </p:spTree>
    <p:extLst>
      <p:ext uri="{BB962C8B-B14F-4D97-AF65-F5344CB8AC3E}">
        <p14:creationId xmlns:p14="http://schemas.microsoft.com/office/powerpoint/2010/main" val="2089461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7C185-299E-B544-BBD2-C07F61E590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DD6486-B712-F14D-9C66-7DBA7DA600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DF259F-AF56-944B-A65B-1249F07C0F20}"/>
              </a:ext>
            </a:extLst>
          </p:cNvPr>
          <p:cNvSpPr>
            <a:spLocks noGrp="1"/>
          </p:cNvSpPr>
          <p:nvPr>
            <p:ph type="dt" sz="half" idx="10"/>
          </p:nvPr>
        </p:nvSpPr>
        <p:spPr/>
        <p:txBody>
          <a:bodyPr/>
          <a:lstStyle/>
          <a:p>
            <a:fld id="{3CEC3C68-6222-AE4F-8CB6-FF8681682CE0}" type="datetime1">
              <a:rPr lang="en-US" smtClean="0"/>
              <a:t>10/24/20</a:t>
            </a:fld>
            <a:r>
              <a:rPr lang="en-US" altLang="zh-CN"/>
              <a:t>20</a:t>
            </a:r>
            <a:endParaRPr lang="en-US" dirty="0"/>
          </a:p>
        </p:txBody>
      </p:sp>
      <p:sp>
        <p:nvSpPr>
          <p:cNvPr id="5" name="Footer Placeholder 4">
            <a:extLst>
              <a:ext uri="{FF2B5EF4-FFF2-40B4-BE49-F238E27FC236}">
                <a16:creationId xmlns:a16="http://schemas.microsoft.com/office/drawing/2014/main" id="{D5A67793-1E7F-7B40-BDF8-95B2B13804AF}"/>
              </a:ext>
            </a:extLst>
          </p:cNvPr>
          <p:cNvSpPr>
            <a:spLocks noGrp="1"/>
          </p:cNvSpPr>
          <p:nvPr>
            <p:ph type="ftr" sz="quarter" idx="11"/>
          </p:nvPr>
        </p:nvSpPr>
        <p:spPr/>
        <p:txBody>
          <a:bodyPr/>
          <a:lstStyle/>
          <a:p>
            <a:r>
              <a:rPr lang="en-US" altLang="zh-CN" dirty="0"/>
              <a:t>Heart</a:t>
            </a:r>
            <a:r>
              <a:rPr lang="zh-CN" altLang="en-US" dirty="0"/>
              <a:t> </a:t>
            </a:r>
            <a:r>
              <a:rPr lang="en-US" altLang="zh-CN" dirty="0"/>
              <a:t>Disease</a:t>
            </a:r>
            <a:r>
              <a:rPr lang="zh-CN" altLang="en-US" dirty="0"/>
              <a:t> </a:t>
            </a:r>
            <a:r>
              <a:rPr lang="en-US" altLang="zh-CN" dirty="0"/>
              <a:t>Classification</a:t>
            </a:r>
            <a:endParaRPr lang="en-US" dirty="0"/>
          </a:p>
        </p:txBody>
      </p:sp>
      <p:sp>
        <p:nvSpPr>
          <p:cNvPr id="6" name="Slide Number Placeholder 5">
            <a:extLst>
              <a:ext uri="{FF2B5EF4-FFF2-40B4-BE49-F238E27FC236}">
                <a16:creationId xmlns:a16="http://schemas.microsoft.com/office/drawing/2014/main" id="{65963D71-2C19-2645-8019-4BE7585F6C00}"/>
              </a:ext>
            </a:extLst>
          </p:cNvPr>
          <p:cNvSpPr>
            <a:spLocks noGrp="1"/>
          </p:cNvSpPr>
          <p:nvPr>
            <p:ph type="sldNum" sz="quarter" idx="12"/>
          </p:nvPr>
        </p:nvSpPr>
        <p:spPr/>
        <p:txBody>
          <a:bodyPr/>
          <a:lstStyle>
            <a:lvl1pPr>
              <a:defRPr>
                <a:solidFill>
                  <a:schemeClr val="accent2"/>
                </a:solidFill>
              </a:defRPr>
            </a:lvl1pPr>
          </a:lstStyle>
          <a:p>
            <a:fld id="{5E165751-051E-4045-BFA7-BDB2DD1CABB7}" type="slidenum">
              <a:rPr lang="en-US" smtClean="0"/>
              <a:pPr/>
              <a:t>‹#›</a:t>
            </a:fld>
            <a:endParaRPr lang="en-US"/>
          </a:p>
        </p:txBody>
      </p:sp>
    </p:spTree>
    <p:extLst>
      <p:ext uri="{BB962C8B-B14F-4D97-AF65-F5344CB8AC3E}">
        <p14:creationId xmlns:p14="http://schemas.microsoft.com/office/powerpoint/2010/main" val="4160168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1DA14-8B08-AD47-9523-B3B8789ADA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325842A-30C0-1546-B22E-7597D2ACF6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53F08F-FBC6-DF43-B1B5-7C5445940BA1}"/>
              </a:ext>
            </a:extLst>
          </p:cNvPr>
          <p:cNvSpPr>
            <a:spLocks noGrp="1"/>
          </p:cNvSpPr>
          <p:nvPr>
            <p:ph type="dt" sz="half" idx="10"/>
          </p:nvPr>
        </p:nvSpPr>
        <p:spPr/>
        <p:txBody>
          <a:bodyPr/>
          <a:lstStyle/>
          <a:p>
            <a:fld id="{403DF19D-0EB6-0C45-8682-576530D0EB23}" type="datetime1">
              <a:rPr lang="en-US" smtClean="0"/>
              <a:t>10/24/20</a:t>
            </a:fld>
            <a:endParaRPr lang="en-US"/>
          </a:p>
        </p:txBody>
      </p:sp>
      <p:sp>
        <p:nvSpPr>
          <p:cNvPr id="5" name="Footer Placeholder 4">
            <a:extLst>
              <a:ext uri="{FF2B5EF4-FFF2-40B4-BE49-F238E27FC236}">
                <a16:creationId xmlns:a16="http://schemas.microsoft.com/office/drawing/2014/main" id="{DDBEE5DF-A126-5F42-9778-EFB98B4717B4}"/>
              </a:ext>
            </a:extLst>
          </p:cNvPr>
          <p:cNvSpPr>
            <a:spLocks noGrp="1"/>
          </p:cNvSpPr>
          <p:nvPr>
            <p:ph type="ftr" sz="quarter" idx="11"/>
          </p:nvPr>
        </p:nvSpPr>
        <p:spPr/>
        <p:txBody>
          <a:bodyPr/>
          <a:lstStyle/>
          <a:p>
            <a:r>
              <a:rPr lang="en-US"/>
              <a:t>Ethical Visualizations Presentation</a:t>
            </a:r>
          </a:p>
        </p:txBody>
      </p:sp>
      <p:sp>
        <p:nvSpPr>
          <p:cNvPr id="6" name="Slide Number Placeholder 5">
            <a:extLst>
              <a:ext uri="{FF2B5EF4-FFF2-40B4-BE49-F238E27FC236}">
                <a16:creationId xmlns:a16="http://schemas.microsoft.com/office/drawing/2014/main" id="{3A418008-5DA0-5F44-B61A-31A22766B39B}"/>
              </a:ext>
            </a:extLst>
          </p:cNvPr>
          <p:cNvSpPr>
            <a:spLocks noGrp="1"/>
          </p:cNvSpPr>
          <p:nvPr>
            <p:ph type="sldNum" sz="quarter" idx="12"/>
          </p:nvPr>
        </p:nvSpPr>
        <p:spPr/>
        <p:txBody>
          <a:bodyPr/>
          <a:lstStyle/>
          <a:p>
            <a:fld id="{5E165751-051E-4045-BFA7-BDB2DD1CABB7}" type="slidenum">
              <a:rPr lang="en-US" smtClean="0"/>
              <a:t>‹#›</a:t>
            </a:fld>
            <a:endParaRPr lang="en-US"/>
          </a:p>
        </p:txBody>
      </p:sp>
    </p:spTree>
    <p:extLst>
      <p:ext uri="{BB962C8B-B14F-4D97-AF65-F5344CB8AC3E}">
        <p14:creationId xmlns:p14="http://schemas.microsoft.com/office/powerpoint/2010/main" val="1099683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840C0-0E10-6543-83A5-6F7EE33211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B6677F-2B09-3D4A-A9BE-81537568F4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50EF2FC-5348-8340-A117-945867EECF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F5C102-1353-4D42-BAB6-93A6DCEF8E8C}"/>
              </a:ext>
            </a:extLst>
          </p:cNvPr>
          <p:cNvSpPr>
            <a:spLocks noGrp="1"/>
          </p:cNvSpPr>
          <p:nvPr>
            <p:ph type="dt" sz="half" idx="10"/>
          </p:nvPr>
        </p:nvSpPr>
        <p:spPr/>
        <p:txBody>
          <a:bodyPr/>
          <a:lstStyle/>
          <a:p>
            <a:fld id="{A0678F7E-F8A2-AB47-A13A-61C7EA4230F7}" type="datetime1">
              <a:rPr lang="en-US" smtClean="0"/>
              <a:t>10/24/20</a:t>
            </a:fld>
            <a:endParaRPr lang="en-US"/>
          </a:p>
        </p:txBody>
      </p:sp>
      <p:sp>
        <p:nvSpPr>
          <p:cNvPr id="6" name="Footer Placeholder 5">
            <a:extLst>
              <a:ext uri="{FF2B5EF4-FFF2-40B4-BE49-F238E27FC236}">
                <a16:creationId xmlns:a16="http://schemas.microsoft.com/office/drawing/2014/main" id="{521C82D3-4C57-1543-A629-ACEF6A4C154A}"/>
              </a:ext>
            </a:extLst>
          </p:cNvPr>
          <p:cNvSpPr>
            <a:spLocks noGrp="1"/>
          </p:cNvSpPr>
          <p:nvPr>
            <p:ph type="ftr" sz="quarter" idx="11"/>
          </p:nvPr>
        </p:nvSpPr>
        <p:spPr/>
        <p:txBody>
          <a:bodyPr/>
          <a:lstStyle/>
          <a:p>
            <a:r>
              <a:rPr lang="en-US"/>
              <a:t>Ethical Visualizations Presentation</a:t>
            </a:r>
          </a:p>
        </p:txBody>
      </p:sp>
      <p:sp>
        <p:nvSpPr>
          <p:cNvPr id="7" name="Slide Number Placeholder 6">
            <a:extLst>
              <a:ext uri="{FF2B5EF4-FFF2-40B4-BE49-F238E27FC236}">
                <a16:creationId xmlns:a16="http://schemas.microsoft.com/office/drawing/2014/main" id="{ADF81E73-2B82-804D-BA59-6F03C45CF6BB}"/>
              </a:ext>
            </a:extLst>
          </p:cNvPr>
          <p:cNvSpPr>
            <a:spLocks noGrp="1"/>
          </p:cNvSpPr>
          <p:nvPr>
            <p:ph type="sldNum" sz="quarter" idx="12"/>
          </p:nvPr>
        </p:nvSpPr>
        <p:spPr/>
        <p:txBody>
          <a:bodyPr/>
          <a:lstStyle/>
          <a:p>
            <a:fld id="{5E165751-051E-4045-BFA7-BDB2DD1CABB7}" type="slidenum">
              <a:rPr lang="en-US" smtClean="0"/>
              <a:t>‹#›</a:t>
            </a:fld>
            <a:endParaRPr lang="en-US"/>
          </a:p>
        </p:txBody>
      </p:sp>
    </p:spTree>
    <p:extLst>
      <p:ext uri="{BB962C8B-B14F-4D97-AF65-F5344CB8AC3E}">
        <p14:creationId xmlns:p14="http://schemas.microsoft.com/office/powerpoint/2010/main" val="2601573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F92C7-FDC1-3C45-930D-40F1B44F561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4F01BA-B847-DC4D-9165-DE5EF4F547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52E1B8-1EBD-804A-9A66-B7F1ABCBE1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DC5D6C6-F1CC-9940-B8AA-3396F89688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47C0C8-D587-1F48-89DE-127C2994FE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1265D65-C322-7848-92D8-344B17B3E5FF}"/>
              </a:ext>
            </a:extLst>
          </p:cNvPr>
          <p:cNvSpPr>
            <a:spLocks noGrp="1"/>
          </p:cNvSpPr>
          <p:nvPr>
            <p:ph type="dt" sz="half" idx="10"/>
          </p:nvPr>
        </p:nvSpPr>
        <p:spPr/>
        <p:txBody>
          <a:bodyPr/>
          <a:lstStyle/>
          <a:p>
            <a:fld id="{9C412DA2-B002-7A41-95E2-85C10842EB9B}" type="datetime1">
              <a:rPr lang="en-US" smtClean="0"/>
              <a:t>10/24/20</a:t>
            </a:fld>
            <a:endParaRPr lang="en-US"/>
          </a:p>
        </p:txBody>
      </p:sp>
      <p:sp>
        <p:nvSpPr>
          <p:cNvPr id="8" name="Footer Placeholder 7">
            <a:extLst>
              <a:ext uri="{FF2B5EF4-FFF2-40B4-BE49-F238E27FC236}">
                <a16:creationId xmlns:a16="http://schemas.microsoft.com/office/drawing/2014/main" id="{646AD42B-88EA-004D-9C41-EFBECA36CE5D}"/>
              </a:ext>
            </a:extLst>
          </p:cNvPr>
          <p:cNvSpPr>
            <a:spLocks noGrp="1"/>
          </p:cNvSpPr>
          <p:nvPr>
            <p:ph type="ftr" sz="quarter" idx="11"/>
          </p:nvPr>
        </p:nvSpPr>
        <p:spPr/>
        <p:txBody>
          <a:bodyPr/>
          <a:lstStyle/>
          <a:p>
            <a:r>
              <a:rPr lang="en-US"/>
              <a:t>Ethical Visualizations Presentation</a:t>
            </a:r>
          </a:p>
        </p:txBody>
      </p:sp>
      <p:sp>
        <p:nvSpPr>
          <p:cNvPr id="9" name="Slide Number Placeholder 8">
            <a:extLst>
              <a:ext uri="{FF2B5EF4-FFF2-40B4-BE49-F238E27FC236}">
                <a16:creationId xmlns:a16="http://schemas.microsoft.com/office/drawing/2014/main" id="{44FF1BD5-9FAD-E44A-ACBA-8CEE6051D16B}"/>
              </a:ext>
            </a:extLst>
          </p:cNvPr>
          <p:cNvSpPr>
            <a:spLocks noGrp="1"/>
          </p:cNvSpPr>
          <p:nvPr>
            <p:ph type="sldNum" sz="quarter" idx="12"/>
          </p:nvPr>
        </p:nvSpPr>
        <p:spPr/>
        <p:txBody>
          <a:bodyPr/>
          <a:lstStyle/>
          <a:p>
            <a:fld id="{5E165751-051E-4045-BFA7-BDB2DD1CABB7}" type="slidenum">
              <a:rPr lang="en-US" smtClean="0"/>
              <a:t>‹#›</a:t>
            </a:fld>
            <a:endParaRPr lang="en-US"/>
          </a:p>
        </p:txBody>
      </p:sp>
    </p:spTree>
    <p:extLst>
      <p:ext uri="{BB962C8B-B14F-4D97-AF65-F5344CB8AC3E}">
        <p14:creationId xmlns:p14="http://schemas.microsoft.com/office/powerpoint/2010/main" val="3207777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C97DE-0D3E-FC4B-9972-3C9491967BA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DFA920F-DF44-714C-AF7B-F45785668838}"/>
              </a:ext>
            </a:extLst>
          </p:cNvPr>
          <p:cNvSpPr>
            <a:spLocks noGrp="1"/>
          </p:cNvSpPr>
          <p:nvPr>
            <p:ph type="dt" sz="half" idx="10"/>
          </p:nvPr>
        </p:nvSpPr>
        <p:spPr/>
        <p:txBody>
          <a:bodyPr/>
          <a:lstStyle/>
          <a:p>
            <a:fld id="{E036183A-DEDF-B147-9758-A0EEB8FC32E4}" type="datetime1">
              <a:rPr lang="en-US" smtClean="0"/>
              <a:t>10/24/20</a:t>
            </a:fld>
            <a:endParaRPr lang="en-US"/>
          </a:p>
        </p:txBody>
      </p:sp>
      <p:sp>
        <p:nvSpPr>
          <p:cNvPr id="4" name="Footer Placeholder 3">
            <a:extLst>
              <a:ext uri="{FF2B5EF4-FFF2-40B4-BE49-F238E27FC236}">
                <a16:creationId xmlns:a16="http://schemas.microsoft.com/office/drawing/2014/main" id="{9E92AACD-0871-B24B-88D6-899B73491E95}"/>
              </a:ext>
            </a:extLst>
          </p:cNvPr>
          <p:cNvSpPr>
            <a:spLocks noGrp="1"/>
          </p:cNvSpPr>
          <p:nvPr>
            <p:ph type="ftr" sz="quarter" idx="11"/>
          </p:nvPr>
        </p:nvSpPr>
        <p:spPr/>
        <p:txBody>
          <a:bodyPr/>
          <a:lstStyle/>
          <a:p>
            <a:r>
              <a:rPr lang="en-US"/>
              <a:t>Ethical Visualizations Presentation</a:t>
            </a:r>
          </a:p>
        </p:txBody>
      </p:sp>
      <p:sp>
        <p:nvSpPr>
          <p:cNvPr id="5" name="Slide Number Placeholder 4">
            <a:extLst>
              <a:ext uri="{FF2B5EF4-FFF2-40B4-BE49-F238E27FC236}">
                <a16:creationId xmlns:a16="http://schemas.microsoft.com/office/drawing/2014/main" id="{71B39C14-C7A7-5B46-BA55-711C20E35A35}"/>
              </a:ext>
            </a:extLst>
          </p:cNvPr>
          <p:cNvSpPr>
            <a:spLocks noGrp="1"/>
          </p:cNvSpPr>
          <p:nvPr>
            <p:ph type="sldNum" sz="quarter" idx="12"/>
          </p:nvPr>
        </p:nvSpPr>
        <p:spPr/>
        <p:txBody>
          <a:bodyPr/>
          <a:lstStyle/>
          <a:p>
            <a:fld id="{5E165751-051E-4045-BFA7-BDB2DD1CABB7}" type="slidenum">
              <a:rPr lang="en-US" smtClean="0"/>
              <a:t>‹#›</a:t>
            </a:fld>
            <a:endParaRPr lang="en-US"/>
          </a:p>
        </p:txBody>
      </p:sp>
    </p:spTree>
    <p:extLst>
      <p:ext uri="{BB962C8B-B14F-4D97-AF65-F5344CB8AC3E}">
        <p14:creationId xmlns:p14="http://schemas.microsoft.com/office/powerpoint/2010/main" val="69155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6C0C06-4F61-CA40-B153-FCB111A7364F}"/>
              </a:ext>
            </a:extLst>
          </p:cNvPr>
          <p:cNvSpPr>
            <a:spLocks noGrp="1"/>
          </p:cNvSpPr>
          <p:nvPr>
            <p:ph type="dt" sz="half" idx="10"/>
          </p:nvPr>
        </p:nvSpPr>
        <p:spPr/>
        <p:txBody>
          <a:bodyPr/>
          <a:lstStyle/>
          <a:p>
            <a:fld id="{81B848F3-5293-F44D-AE59-CB246B7A84AF}" type="datetime1">
              <a:rPr lang="en-US" smtClean="0"/>
              <a:t>10/24/20</a:t>
            </a:fld>
            <a:endParaRPr lang="en-US"/>
          </a:p>
        </p:txBody>
      </p:sp>
      <p:sp>
        <p:nvSpPr>
          <p:cNvPr id="3" name="Footer Placeholder 2">
            <a:extLst>
              <a:ext uri="{FF2B5EF4-FFF2-40B4-BE49-F238E27FC236}">
                <a16:creationId xmlns:a16="http://schemas.microsoft.com/office/drawing/2014/main" id="{A292DABC-C839-6F4F-8C01-4C314C67C08B}"/>
              </a:ext>
            </a:extLst>
          </p:cNvPr>
          <p:cNvSpPr>
            <a:spLocks noGrp="1"/>
          </p:cNvSpPr>
          <p:nvPr>
            <p:ph type="ftr" sz="quarter" idx="11"/>
          </p:nvPr>
        </p:nvSpPr>
        <p:spPr/>
        <p:txBody>
          <a:bodyPr/>
          <a:lstStyle/>
          <a:p>
            <a:r>
              <a:rPr lang="en-US"/>
              <a:t>Ethical Visualizations Presentation</a:t>
            </a:r>
          </a:p>
        </p:txBody>
      </p:sp>
      <p:sp>
        <p:nvSpPr>
          <p:cNvPr id="4" name="Slide Number Placeholder 3">
            <a:extLst>
              <a:ext uri="{FF2B5EF4-FFF2-40B4-BE49-F238E27FC236}">
                <a16:creationId xmlns:a16="http://schemas.microsoft.com/office/drawing/2014/main" id="{05C0B2F9-27D1-EF44-9089-0A63C1615763}"/>
              </a:ext>
            </a:extLst>
          </p:cNvPr>
          <p:cNvSpPr>
            <a:spLocks noGrp="1"/>
          </p:cNvSpPr>
          <p:nvPr>
            <p:ph type="sldNum" sz="quarter" idx="12"/>
          </p:nvPr>
        </p:nvSpPr>
        <p:spPr/>
        <p:txBody>
          <a:bodyPr/>
          <a:lstStyle/>
          <a:p>
            <a:fld id="{5E165751-051E-4045-BFA7-BDB2DD1CABB7}" type="slidenum">
              <a:rPr lang="en-US" smtClean="0"/>
              <a:t>‹#›</a:t>
            </a:fld>
            <a:endParaRPr lang="en-US"/>
          </a:p>
        </p:txBody>
      </p:sp>
    </p:spTree>
    <p:extLst>
      <p:ext uri="{BB962C8B-B14F-4D97-AF65-F5344CB8AC3E}">
        <p14:creationId xmlns:p14="http://schemas.microsoft.com/office/powerpoint/2010/main" val="4225874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1E1B8-6026-034C-858D-32E1CBC0F1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5703DCE-34FB-4345-A8E0-15D4B005A6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6407B19-D1AD-D44D-AF1B-56EE2EC157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A9798A-7840-BC4C-99AF-1EBA4454A194}"/>
              </a:ext>
            </a:extLst>
          </p:cNvPr>
          <p:cNvSpPr>
            <a:spLocks noGrp="1"/>
          </p:cNvSpPr>
          <p:nvPr>
            <p:ph type="dt" sz="half" idx="10"/>
          </p:nvPr>
        </p:nvSpPr>
        <p:spPr/>
        <p:txBody>
          <a:bodyPr/>
          <a:lstStyle/>
          <a:p>
            <a:fld id="{13E5AF2A-D2EE-8645-93E2-E6C727F29193}" type="datetime1">
              <a:rPr lang="en-US" smtClean="0"/>
              <a:t>10/24/20</a:t>
            </a:fld>
            <a:endParaRPr lang="en-US"/>
          </a:p>
        </p:txBody>
      </p:sp>
      <p:sp>
        <p:nvSpPr>
          <p:cNvPr id="6" name="Footer Placeholder 5">
            <a:extLst>
              <a:ext uri="{FF2B5EF4-FFF2-40B4-BE49-F238E27FC236}">
                <a16:creationId xmlns:a16="http://schemas.microsoft.com/office/drawing/2014/main" id="{9878C223-364C-2343-9353-49F372260020}"/>
              </a:ext>
            </a:extLst>
          </p:cNvPr>
          <p:cNvSpPr>
            <a:spLocks noGrp="1"/>
          </p:cNvSpPr>
          <p:nvPr>
            <p:ph type="ftr" sz="quarter" idx="11"/>
          </p:nvPr>
        </p:nvSpPr>
        <p:spPr/>
        <p:txBody>
          <a:bodyPr/>
          <a:lstStyle/>
          <a:p>
            <a:r>
              <a:rPr lang="en-US"/>
              <a:t>Ethical Visualizations Presentation</a:t>
            </a:r>
          </a:p>
        </p:txBody>
      </p:sp>
      <p:sp>
        <p:nvSpPr>
          <p:cNvPr id="7" name="Slide Number Placeholder 6">
            <a:extLst>
              <a:ext uri="{FF2B5EF4-FFF2-40B4-BE49-F238E27FC236}">
                <a16:creationId xmlns:a16="http://schemas.microsoft.com/office/drawing/2014/main" id="{CA22C26C-318F-3B46-9D05-50BA9CEA4D56}"/>
              </a:ext>
            </a:extLst>
          </p:cNvPr>
          <p:cNvSpPr>
            <a:spLocks noGrp="1"/>
          </p:cNvSpPr>
          <p:nvPr>
            <p:ph type="sldNum" sz="quarter" idx="12"/>
          </p:nvPr>
        </p:nvSpPr>
        <p:spPr/>
        <p:txBody>
          <a:bodyPr/>
          <a:lstStyle/>
          <a:p>
            <a:fld id="{5E165751-051E-4045-BFA7-BDB2DD1CABB7}" type="slidenum">
              <a:rPr lang="en-US" smtClean="0"/>
              <a:t>‹#›</a:t>
            </a:fld>
            <a:endParaRPr lang="en-US"/>
          </a:p>
        </p:txBody>
      </p:sp>
    </p:spTree>
    <p:extLst>
      <p:ext uri="{BB962C8B-B14F-4D97-AF65-F5344CB8AC3E}">
        <p14:creationId xmlns:p14="http://schemas.microsoft.com/office/powerpoint/2010/main" val="4139444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0D75C-54B1-CB4B-9AE4-130A4E1782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9E44FC-355E-1A4A-AAD5-46E2E61E84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C7406E-C408-E24C-9EC3-517CACA4BF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85B97C-9EF6-1D41-A823-382BE2711120}"/>
              </a:ext>
            </a:extLst>
          </p:cNvPr>
          <p:cNvSpPr>
            <a:spLocks noGrp="1"/>
          </p:cNvSpPr>
          <p:nvPr>
            <p:ph type="dt" sz="half" idx="10"/>
          </p:nvPr>
        </p:nvSpPr>
        <p:spPr/>
        <p:txBody>
          <a:bodyPr/>
          <a:lstStyle/>
          <a:p>
            <a:fld id="{2F4F24F2-057A-9C48-8377-709200636BDB}" type="datetime1">
              <a:rPr lang="en-US" smtClean="0"/>
              <a:t>10/24/20</a:t>
            </a:fld>
            <a:endParaRPr lang="en-US"/>
          </a:p>
        </p:txBody>
      </p:sp>
      <p:sp>
        <p:nvSpPr>
          <p:cNvPr id="6" name="Footer Placeholder 5">
            <a:extLst>
              <a:ext uri="{FF2B5EF4-FFF2-40B4-BE49-F238E27FC236}">
                <a16:creationId xmlns:a16="http://schemas.microsoft.com/office/drawing/2014/main" id="{086FBAC7-9C43-4C4C-B8F5-E1DCAB1F2382}"/>
              </a:ext>
            </a:extLst>
          </p:cNvPr>
          <p:cNvSpPr>
            <a:spLocks noGrp="1"/>
          </p:cNvSpPr>
          <p:nvPr>
            <p:ph type="ftr" sz="quarter" idx="11"/>
          </p:nvPr>
        </p:nvSpPr>
        <p:spPr/>
        <p:txBody>
          <a:bodyPr/>
          <a:lstStyle/>
          <a:p>
            <a:r>
              <a:rPr lang="en-US"/>
              <a:t>Ethical Visualizations Presentation</a:t>
            </a:r>
          </a:p>
        </p:txBody>
      </p:sp>
      <p:sp>
        <p:nvSpPr>
          <p:cNvPr id="7" name="Slide Number Placeholder 6">
            <a:extLst>
              <a:ext uri="{FF2B5EF4-FFF2-40B4-BE49-F238E27FC236}">
                <a16:creationId xmlns:a16="http://schemas.microsoft.com/office/drawing/2014/main" id="{03E986CB-3BCD-E445-B1F6-E204B3922C55}"/>
              </a:ext>
            </a:extLst>
          </p:cNvPr>
          <p:cNvSpPr>
            <a:spLocks noGrp="1"/>
          </p:cNvSpPr>
          <p:nvPr>
            <p:ph type="sldNum" sz="quarter" idx="12"/>
          </p:nvPr>
        </p:nvSpPr>
        <p:spPr/>
        <p:txBody>
          <a:bodyPr/>
          <a:lstStyle/>
          <a:p>
            <a:fld id="{5E165751-051E-4045-BFA7-BDB2DD1CABB7}" type="slidenum">
              <a:rPr lang="en-US" smtClean="0"/>
              <a:t>‹#›</a:t>
            </a:fld>
            <a:endParaRPr lang="en-US"/>
          </a:p>
        </p:txBody>
      </p:sp>
    </p:spTree>
    <p:extLst>
      <p:ext uri="{BB962C8B-B14F-4D97-AF65-F5344CB8AC3E}">
        <p14:creationId xmlns:p14="http://schemas.microsoft.com/office/powerpoint/2010/main" val="3291485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EB783-E7E5-4B40-84CA-78F8A5F689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2937557-F46D-8646-86D8-AB15802CCD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04AC07-1B74-D74F-A821-7663D8742AE1}"/>
              </a:ext>
            </a:extLst>
          </p:cNvPr>
          <p:cNvSpPr>
            <a:spLocks noGrp="1"/>
          </p:cNvSpPr>
          <p:nvPr>
            <p:ph type="dt" sz="half" idx="10"/>
          </p:nvPr>
        </p:nvSpPr>
        <p:spPr/>
        <p:txBody>
          <a:bodyPr/>
          <a:lstStyle/>
          <a:p>
            <a:fld id="{F4B84F8B-6F2B-184B-8C7C-63A8B2B7233E}" type="datetime1">
              <a:rPr lang="en-US" smtClean="0"/>
              <a:t>10/24/20</a:t>
            </a:fld>
            <a:endParaRPr lang="en-US"/>
          </a:p>
        </p:txBody>
      </p:sp>
      <p:sp>
        <p:nvSpPr>
          <p:cNvPr id="5" name="Footer Placeholder 4">
            <a:extLst>
              <a:ext uri="{FF2B5EF4-FFF2-40B4-BE49-F238E27FC236}">
                <a16:creationId xmlns:a16="http://schemas.microsoft.com/office/drawing/2014/main" id="{1F7F7510-C77F-F043-9004-CC028B0F51C5}"/>
              </a:ext>
            </a:extLst>
          </p:cNvPr>
          <p:cNvSpPr>
            <a:spLocks noGrp="1"/>
          </p:cNvSpPr>
          <p:nvPr>
            <p:ph type="ftr" sz="quarter" idx="11"/>
          </p:nvPr>
        </p:nvSpPr>
        <p:spPr/>
        <p:txBody>
          <a:bodyPr/>
          <a:lstStyle/>
          <a:p>
            <a:r>
              <a:rPr lang="en-US"/>
              <a:t>Ethical Visualizations Presentation</a:t>
            </a:r>
          </a:p>
        </p:txBody>
      </p:sp>
      <p:sp>
        <p:nvSpPr>
          <p:cNvPr id="6" name="Slide Number Placeholder 5">
            <a:extLst>
              <a:ext uri="{FF2B5EF4-FFF2-40B4-BE49-F238E27FC236}">
                <a16:creationId xmlns:a16="http://schemas.microsoft.com/office/drawing/2014/main" id="{1EAF50E6-E315-C74E-9AEA-A4BE6B3F889D}"/>
              </a:ext>
            </a:extLst>
          </p:cNvPr>
          <p:cNvSpPr>
            <a:spLocks noGrp="1"/>
          </p:cNvSpPr>
          <p:nvPr>
            <p:ph type="sldNum" sz="quarter" idx="12"/>
          </p:nvPr>
        </p:nvSpPr>
        <p:spPr/>
        <p:txBody>
          <a:bodyPr/>
          <a:lstStyle/>
          <a:p>
            <a:fld id="{5E165751-051E-4045-BFA7-BDB2DD1CABB7}" type="slidenum">
              <a:rPr lang="en-US" smtClean="0"/>
              <a:t>‹#›</a:t>
            </a:fld>
            <a:endParaRPr lang="en-US"/>
          </a:p>
        </p:txBody>
      </p:sp>
    </p:spTree>
    <p:extLst>
      <p:ext uri="{BB962C8B-B14F-4D97-AF65-F5344CB8AC3E}">
        <p14:creationId xmlns:p14="http://schemas.microsoft.com/office/powerpoint/2010/main" val="3303186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A8DC78-019C-0642-96C2-7A7BC94729B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21C059D-A61C-4943-9FDF-57E4F76B23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D1AB69-20A8-1A4A-871A-92F23FBB931A}"/>
              </a:ext>
            </a:extLst>
          </p:cNvPr>
          <p:cNvSpPr>
            <a:spLocks noGrp="1"/>
          </p:cNvSpPr>
          <p:nvPr>
            <p:ph type="dt" sz="half" idx="10"/>
          </p:nvPr>
        </p:nvSpPr>
        <p:spPr/>
        <p:txBody>
          <a:bodyPr/>
          <a:lstStyle/>
          <a:p>
            <a:fld id="{40060634-942D-FA4F-9C35-0320E5497D69}" type="datetime1">
              <a:rPr lang="en-US" smtClean="0"/>
              <a:t>10/24/20</a:t>
            </a:fld>
            <a:endParaRPr lang="en-US"/>
          </a:p>
        </p:txBody>
      </p:sp>
      <p:sp>
        <p:nvSpPr>
          <p:cNvPr id="5" name="Footer Placeholder 4">
            <a:extLst>
              <a:ext uri="{FF2B5EF4-FFF2-40B4-BE49-F238E27FC236}">
                <a16:creationId xmlns:a16="http://schemas.microsoft.com/office/drawing/2014/main" id="{AA65236E-4601-8F41-9662-1DEBCDBD0B32}"/>
              </a:ext>
            </a:extLst>
          </p:cNvPr>
          <p:cNvSpPr>
            <a:spLocks noGrp="1"/>
          </p:cNvSpPr>
          <p:nvPr>
            <p:ph type="ftr" sz="quarter" idx="11"/>
          </p:nvPr>
        </p:nvSpPr>
        <p:spPr/>
        <p:txBody>
          <a:bodyPr/>
          <a:lstStyle/>
          <a:p>
            <a:r>
              <a:rPr lang="en-US"/>
              <a:t>Ethical Visualizations Presentation</a:t>
            </a:r>
          </a:p>
        </p:txBody>
      </p:sp>
      <p:sp>
        <p:nvSpPr>
          <p:cNvPr id="6" name="Slide Number Placeholder 5">
            <a:extLst>
              <a:ext uri="{FF2B5EF4-FFF2-40B4-BE49-F238E27FC236}">
                <a16:creationId xmlns:a16="http://schemas.microsoft.com/office/drawing/2014/main" id="{7576033E-401D-064E-ABE3-60C697C5F6D3}"/>
              </a:ext>
            </a:extLst>
          </p:cNvPr>
          <p:cNvSpPr>
            <a:spLocks noGrp="1"/>
          </p:cNvSpPr>
          <p:nvPr>
            <p:ph type="sldNum" sz="quarter" idx="12"/>
          </p:nvPr>
        </p:nvSpPr>
        <p:spPr/>
        <p:txBody>
          <a:bodyPr/>
          <a:lstStyle/>
          <a:p>
            <a:fld id="{5E165751-051E-4045-BFA7-BDB2DD1CABB7}" type="slidenum">
              <a:rPr lang="en-US" smtClean="0"/>
              <a:t>‹#›</a:t>
            </a:fld>
            <a:endParaRPr lang="en-US"/>
          </a:p>
        </p:txBody>
      </p:sp>
    </p:spTree>
    <p:extLst>
      <p:ext uri="{BB962C8B-B14F-4D97-AF65-F5344CB8AC3E}">
        <p14:creationId xmlns:p14="http://schemas.microsoft.com/office/powerpoint/2010/main" val="3877496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D16253-0D12-7B48-B080-F42EC9E24DE9}"/>
              </a:ext>
            </a:extLst>
          </p:cNvPr>
          <p:cNvSpPr>
            <a:spLocks noGrp="1"/>
          </p:cNvSpPr>
          <p:nvPr>
            <p:ph type="title"/>
          </p:nvPr>
        </p:nvSpPr>
        <p:spPr>
          <a:xfrm>
            <a:off x="838200" y="365125"/>
            <a:ext cx="10515600" cy="94469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B7E62A1-50FC-DF46-BB35-515CD2769BCB}"/>
              </a:ext>
            </a:extLst>
          </p:cNvPr>
          <p:cNvSpPr>
            <a:spLocks noGrp="1"/>
          </p:cNvSpPr>
          <p:nvPr>
            <p:ph type="body" idx="1"/>
          </p:nvPr>
        </p:nvSpPr>
        <p:spPr>
          <a:xfrm>
            <a:off x="838200" y="1495168"/>
            <a:ext cx="10515600" cy="468179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8C022-3294-3840-A21B-23F2E8E6F6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81FAAD-EDCA-9147-96DF-56C73877B4D1}" type="datetime1">
              <a:rPr lang="en-US" smtClean="0"/>
              <a:t>10/24/20</a:t>
            </a:fld>
            <a:r>
              <a:rPr lang="en-US" altLang="zh-CN"/>
              <a:t>20</a:t>
            </a:r>
            <a:endParaRPr lang="en-US" dirty="0"/>
          </a:p>
        </p:txBody>
      </p:sp>
      <p:sp>
        <p:nvSpPr>
          <p:cNvPr id="5" name="Footer Placeholder 4">
            <a:extLst>
              <a:ext uri="{FF2B5EF4-FFF2-40B4-BE49-F238E27FC236}">
                <a16:creationId xmlns:a16="http://schemas.microsoft.com/office/drawing/2014/main" id="{CE244252-D2A3-DA4A-A1C1-51B07A28F3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rgbClr val="ED6C61"/>
                </a:solidFill>
                <a:effectLst/>
                <a:latin typeface="Arial" panose="020B0604020202020204" pitchFamily="34" charset="0"/>
                <a:cs typeface="Arial" panose="020B0604020202020204" pitchFamily="34" charset="0"/>
              </a:defRPr>
            </a:lvl1pPr>
          </a:lstStyle>
          <a:p>
            <a:r>
              <a:rPr lang="en-US" altLang="zh-CN" dirty="0"/>
              <a:t>Heart</a:t>
            </a:r>
            <a:r>
              <a:rPr lang="zh-CN" altLang="en-US" dirty="0"/>
              <a:t> </a:t>
            </a:r>
            <a:r>
              <a:rPr lang="en-US" altLang="zh-CN" dirty="0"/>
              <a:t>Disease</a:t>
            </a:r>
            <a:r>
              <a:rPr lang="zh-CN" altLang="en-US" dirty="0"/>
              <a:t> </a:t>
            </a:r>
            <a:r>
              <a:rPr lang="en-US" altLang="zh-CN" dirty="0"/>
              <a:t>Classification</a:t>
            </a:r>
            <a:endParaRPr lang="en-US" dirty="0"/>
          </a:p>
        </p:txBody>
      </p:sp>
      <p:sp>
        <p:nvSpPr>
          <p:cNvPr id="6" name="Slide Number Placeholder 5">
            <a:extLst>
              <a:ext uri="{FF2B5EF4-FFF2-40B4-BE49-F238E27FC236}">
                <a16:creationId xmlns:a16="http://schemas.microsoft.com/office/drawing/2014/main" id="{5F4C778B-B811-1843-945E-3F852DEE09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accent2"/>
                </a:solidFill>
                <a:latin typeface="Arial" panose="020B0604020202020204" pitchFamily="34" charset="0"/>
                <a:cs typeface="Arial" panose="020B0604020202020204" pitchFamily="34" charset="0"/>
              </a:defRPr>
            </a:lvl1pPr>
          </a:lstStyle>
          <a:p>
            <a:fld id="{5E165751-051E-4045-BFA7-BDB2DD1CABB7}" type="slidenum">
              <a:rPr lang="en-US" smtClean="0"/>
              <a:pPr/>
              <a:t>‹#›</a:t>
            </a:fld>
            <a:endParaRPr lang="en-US"/>
          </a:p>
        </p:txBody>
      </p:sp>
      <p:sp>
        <p:nvSpPr>
          <p:cNvPr id="7" name="Shape 3">
            <a:extLst>
              <a:ext uri="{FF2B5EF4-FFF2-40B4-BE49-F238E27FC236}">
                <a16:creationId xmlns:a16="http://schemas.microsoft.com/office/drawing/2014/main" id="{53F67C2A-5E40-7146-A206-A8FDE558F87F}"/>
              </a:ext>
            </a:extLst>
          </p:cNvPr>
          <p:cNvSpPr/>
          <p:nvPr userDrawn="1"/>
        </p:nvSpPr>
        <p:spPr>
          <a:xfrm>
            <a:off x="0" y="-1"/>
            <a:ext cx="12192000" cy="365761"/>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w="12700">
            <a:miter lim="400000"/>
          </a:ln>
        </p:spPr>
        <p:txBody>
          <a:bodyPr lIns="0" tIns="0" rIns="0" bIns="0" anchor="ctr"/>
          <a:lstStyle/>
          <a:p>
            <a:pPr lvl="0" algn="ctr">
              <a:defRPr>
                <a:solidFill>
                  <a:srgbClr val="FFFFFF"/>
                </a:solidFill>
              </a:defRPr>
            </a:pPr>
            <a:endParaRPr sz="1800"/>
          </a:p>
        </p:txBody>
      </p:sp>
      <p:cxnSp>
        <p:nvCxnSpPr>
          <p:cNvPr id="9" name="Straight Connector 8">
            <a:extLst>
              <a:ext uri="{FF2B5EF4-FFF2-40B4-BE49-F238E27FC236}">
                <a16:creationId xmlns:a16="http://schemas.microsoft.com/office/drawing/2014/main" id="{FE7A0D29-CF69-3644-A5FB-C02D26E01181}"/>
              </a:ext>
            </a:extLst>
          </p:cNvPr>
          <p:cNvCxnSpPr/>
          <p:nvPr userDrawn="1"/>
        </p:nvCxnSpPr>
        <p:spPr>
          <a:xfrm>
            <a:off x="609600" y="6261461"/>
            <a:ext cx="10972800" cy="10391"/>
          </a:xfrm>
          <a:prstGeom prst="line">
            <a:avLst/>
          </a:prstGeom>
          <a:ln>
            <a:solidFill>
              <a:srgbClr val="C0000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93800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3200" kern="1200">
          <a:solidFill>
            <a:srgbClr val="C00000"/>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5555856-9970-4BC3-9AA9-6A917F53AF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421721"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7F487851-BFAF-46D8-A1ED-50CAD6E46F5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CED3B7F-D376-234D-A4F1-DE4CF876EAAE}"/>
              </a:ext>
            </a:extLst>
          </p:cNvPr>
          <p:cNvSpPr>
            <a:spLocks noGrp="1"/>
          </p:cNvSpPr>
          <p:nvPr>
            <p:ph type="ctrTitle"/>
          </p:nvPr>
        </p:nvSpPr>
        <p:spPr>
          <a:xfrm>
            <a:off x="6590661" y="1858668"/>
            <a:ext cx="4805996" cy="2365241"/>
          </a:xfrm>
        </p:spPr>
        <p:txBody>
          <a:bodyPr anchor="t">
            <a:normAutofit/>
          </a:bodyPr>
          <a:lstStyle/>
          <a:p>
            <a:pPr algn="r"/>
            <a:r>
              <a:rPr lang="en-US" altLang="zh-CN" sz="4400" dirty="0"/>
              <a:t>Heart</a:t>
            </a:r>
            <a:r>
              <a:rPr lang="zh-CN" altLang="en-US" sz="4400" dirty="0"/>
              <a:t> </a:t>
            </a:r>
            <a:r>
              <a:rPr lang="en-US" altLang="zh-CN" sz="4400" dirty="0"/>
              <a:t>Disease</a:t>
            </a:r>
            <a:br>
              <a:rPr lang="en-US" altLang="zh-CN" sz="4400" dirty="0"/>
            </a:br>
            <a:r>
              <a:rPr lang="en-US" altLang="zh-CN" sz="4400" dirty="0"/>
              <a:t>Classification</a:t>
            </a:r>
            <a:endParaRPr lang="en-US" sz="4400" dirty="0"/>
          </a:p>
        </p:txBody>
      </p:sp>
      <p:sp>
        <p:nvSpPr>
          <p:cNvPr id="3" name="Subtitle 2">
            <a:extLst>
              <a:ext uri="{FF2B5EF4-FFF2-40B4-BE49-F238E27FC236}">
                <a16:creationId xmlns:a16="http://schemas.microsoft.com/office/drawing/2014/main" id="{B5150D8B-7643-1A45-BF30-8E0184D9D0F6}"/>
              </a:ext>
            </a:extLst>
          </p:cNvPr>
          <p:cNvSpPr>
            <a:spLocks noGrp="1"/>
          </p:cNvSpPr>
          <p:nvPr>
            <p:ph type="subTitle" idx="1"/>
          </p:nvPr>
        </p:nvSpPr>
        <p:spPr>
          <a:xfrm>
            <a:off x="7129447" y="5588000"/>
            <a:ext cx="3030554" cy="667749"/>
          </a:xfrm>
        </p:spPr>
        <p:txBody>
          <a:bodyPr anchor="b">
            <a:normAutofit/>
          </a:bodyPr>
          <a:lstStyle/>
          <a:p>
            <a:pPr algn="l"/>
            <a:r>
              <a:rPr lang="en-US" altLang="zh-CN" sz="1800" dirty="0" err="1">
                <a:solidFill>
                  <a:schemeClr val="tx1">
                    <a:lumMod val="50000"/>
                    <a:lumOff val="50000"/>
                  </a:schemeClr>
                </a:solidFill>
              </a:rPr>
              <a:t>Yuyi</a:t>
            </a:r>
            <a:r>
              <a:rPr lang="zh-CN" altLang="en-US" sz="1800" dirty="0">
                <a:solidFill>
                  <a:schemeClr val="tx1">
                    <a:lumMod val="50000"/>
                    <a:lumOff val="50000"/>
                  </a:schemeClr>
                </a:solidFill>
              </a:rPr>
              <a:t> </a:t>
            </a:r>
            <a:r>
              <a:rPr lang="en-US" altLang="zh-CN" sz="1800" dirty="0">
                <a:solidFill>
                  <a:schemeClr val="tx1">
                    <a:lumMod val="50000"/>
                    <a:lumOff val="50000"/>
                  </a:schemeClr>
                </a:solidFill>
              </a:rPr>
              <a:t>Zhang</a:t>
            </a:r>
          </a:p>
          <a:p>
            <a:pPr algn="l"/>
            <a:r>
              <a:rPr lang="en-US" altLang="zh-CN" sz="1000" dirty="0">
                <a:solidFill>
                  <a:schemeClr val="tx1">
                    <a:lumMod val="50000"/>
                    <a:lumOff val="50000"/>
                  </a:schemeClr>
                </a:solidFill>
              </a:rPr>
              <a:t>Oct</a:t>
            </a:r>
            <a:r>
              <a:rPr lang="zh-CN" altLang="en-US" sz="1000" dirty="0">
                <a:solidFill>
                  <a:schemeClr val="tx1">
                    <a:lumMod val="50000"/>
                    <a:lumOff val="50000"/>
                  </a:schemeClr>
                </a:solidFill>
              </a:rPr>
              <a:t> </a:t>
            </a:r>
            <a:r>
              <a:rPr lang="en-US" altLang="zh-CN" sz="1000" dirty="0">
                <a:solidFill>
                  <a:schemeClr val="tx1">
                    <a:lumMod val="50000"/>
                    <a:lumOff val="50000"/>
                  </a:schemeClr>
                </a:solidFill>
              </a:rPr>
              <a:t>24,</a:t>
            </a:r>
            <a:r>
              <a:rPr lang="zh-CN" altLang="en-US" sz="1000" dirty="0">
                <a:solidFill>
                  <a:schemeClr val="tx1">
                    <a:lumMod val="50000"/>
                    <a:lumOff val="50000"/>
                  </a:schemeClr>
                </a:solidFill>
              </a:rPr>
              <a:t> </a:t>
            </a:r>
            <a:r>
              <a:rPr lang="en-US" altLang="zh-CN" sz="1000" dirty="0">
                <a:solidFill>
                  <a:schemeClr val="tx1">
                    <a:lumMod val="50000"/>
                    <a:lumOff val="50000"/>
                  </a:schemeClr>
                </a:solidFill>
              </a:rPr>
              <a:t>2020</a:t>
            </a:r>
            <a:endParaRPr lang="en-US" sz="1000" dirty="0">
              <a:solidFill>
                <a:schemeClr val="tx1">
                  <a:lumMod val="50000"/>
                  <a:lumOff val="50000"/>
                </a:schemeClr>
              </a:solidFill>
            </a:endParaRPr>
          </a:p>
        </p:txBody>
      </p:sp>
      <p:sp>
        <p:nvSpPr>
          <p:cNvPr id="13" name="Freeform 50">
            <a:extLst>
              <a:ext uri="{FF2B5EF4-FFF2-40B4-BE49-F238E27FC236}">
                <a16:creationId xmlns:a16="http://schemas.microsoft.com/office/drawing/2014/main" id="{13722DD7-BA73-4776-93A3-94491FEF72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1159"/>
            <a:ext cx="5464879" cy="6276841"/>
          </a:xfrm>
          <a:custGeom>
            <a:avLst/>
            <a:gdLst>
              <a:gd name="connsiteX0" fmla="*/ 3299930 w 5464879"/>
              <a:gd name="connsiteY0" fmla="*/ 0 h 6276841"/>
              <a:gd name="connsiteX1" fmla="*/ 5398992 w 5464879"/>
              <a:gd name="connsiteY1" fmla="*/ 753544 h 6276841"/>
              <a:gd name="connsiteX2" fmla="*/ 5464879 w 5464879"/>
              <a:gd name="connsiteY2" fmla="*/ 813426 h 6276841"/>
              <a:gd name="connsiteX3" fmla="*/ 5464879 w 5464879"/>
              <a:gd name="connsiteY3" fmla="*/ 5786434 h 6276841"/>
              <a:gd name="connsiteX4" fmla="*/ 5398992 w 5464879"/>
              <a:gd name="connsiteY4" fmla="*/ 5846317 h 6276841"/>
              <a:gd name="connsiteX5" fmla="*/ 4872873 w 5464879"/>
              <a:gd name="connsiteY5" fmla="*/ 6201577 h 6276841"/>
              <a:gd name="connsiteX6" fmla="*/ 4716632 w 5464879"/>
              <a:gd name="connsiteY6" fmla="*/ 6276841 h 6276841"/>
              <a:gd name="connsiteX7" fmla="*/ 1883227 w 5464879"/>
              <a:gd name="connsiteY7" fmla="*/ 6276841 h 6276841"/>
              <a:gd name="connsiteX8" fmla="*/ 1726987 w 5464879"/>
              <a:gd name="connsiteY8" fmla="*/ 6201577 h 6276841"/>
              <a:gd name="connsiteX9" fmla="*/ 0 w 5464879"/>
              <a:gd name="connsiteY9" fmla="*/ 3299930 h 6276841"/>
              <a:gd name="connsiteX10" fmla="*/ 3299930 w 5464879"/>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64879" h="6276841">
                <a:moveTo>
                  <a:pt x="3299930" y="0"/>
                </a:moveTo>
                <a:cubicBezTo>
                  <a:pt x="4097274" y="0"/>
                  <a:pt x="4828569" y="282789"/>
                  <a:pt x="5398992" y="753544"/>
                </a:cubicBezTo>
                <a:lnTo>
                  <a:pt x="5464879" y="813426"/>
                </a:lnTo>
                <a:lnTo>
                  <a:pt x="5464879" y="5786434"/>
                </a:lnTo>
                <a:lnTo>
                  <a:pt x="5398992" y="5846317"/>
                </a:lnTo>
                <a:cubicBezTo>
                  <a:pt x="5236014" y="5980818"/>
                  <a:pt x="5059904" y="6099975"/>
                  <a:pt x="4872873" y="6201577"/>
                </a:cubicBezTo>
                <a:lnTo>
                  <a:pt x="4716632" y="6276841"/>
                </a:lnTo>
                <a:lnTo>
                  <a:pt x="1883227" y="6276841"/>
                </a:lnTo>
                <a:lnTo>
                  <a:pt x="1726987" y="6201577"/>
                </a:lnTo>
                <a:cubicBezTo>
                  <a:pt x="698316" y="5642769"/>
                  <a:pt x="0" y="4552900"/>
                  <a:pt x="0" y="3299930"/>
                </a:cubicBezTo>
                <a:cubicBezTo>
                  <a:pt x="0" y="1477429"/>
                  <a:pt x="1477429" y="0"/>
                  <a:pt x="3299930"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4" name="Picture 13">
            <a:extLst>
              <a:ext uri="{FF2B5EF4-FFF2-40B4-BE49-F238E27FC236}">
                <a16:creationId xmlns:a16="http://schemas.microsoft.com/office/drawing/2014/main" id="{9ADCDD41-7B7F-3A48-8A0E-F1F0B38FE644}"/>
              </a:ext>
            </a:extLst>
          </p:cNvPr>
          <p:cNvPicPr>
            <a:picLocks noChangeAspect="1"/>
          </p:cNvPicPr>
          <p:nvPr/>
        </p:nvPicPr>
        <p:blipFill>
          <a:blip r:embed="rId4">
            <a:alphaModFix/>
            <a:extLst>
              <a:ext uri="{BEBA8EAE-BF5A-486C-A8C5-ECC9F3942E4B}">
                <a14:imgProps xmlns:a14="http://schemas.microsoft.com/office/drawing/2010/main">
                  <a14:imgLayer r:embed="rId5">
                    <a14:imgEffect>
                      <a14:artisticLineDrawing/>
                    </a14:imgEffect>
                  </a14:imgLayer>
                </a14:imgProps>
              </a:ext>
            </a:extLst>
          </a:blip>
          <a:srcRect/>
          <a:stretch/>
        </p:blipFill>
        <p:spPr>
          <a:xfrm>
            <a:off x="100013" y="3429000"/>
            <a:ext cx="3416554" cy="2938715"/>
          </a:xfrm>
          <a:prstGeom prst="rect">
            <a:avLst/>
          </a:prstGeom>
        </p:spPr>
      </p:pic>
      <p:sp>
        <p:nvSpPr>
          <p:cNvPr id="10" name="TextBox 9">
            <a:extLst>
              <a:ext uri="{FF2B5EF4-FFF2-40B4-BE49-F238E27FC236}">
                <a16:creationId xmlns:a16="http://schemas.microsoft.com/office/drawing/2014/main" id="{118D40FD-B630-C341-A850-2973E1FEB5CE}"/>
              </a:ext>
            </a:extLst>
          </p:cNvPr>
          <p:cNvSpPr txBox="1"/>
          <p:nvPr/>
        </p:nvSpPr>
        <p:spPr>
          <a:xfrm>
            <a:off x="7932647" y="3921535"/>
            <a:ext cx="3464010" cy="646331"/>
          </a:xfrm>
          <a:prstGeom prst="rect">
            <a:avLst/>
          </a:prstGeom>
          <a:noFill/>
        </p:spPr>
        <p:txBody>
          <a:bodyPr wrap="square" rtlCol="0">
            <a:spAutoFit/>
          </a:bodyPr>
          <a:lstStyle/>
          <a:p>
            <a:pPr algn="r"/>
            <a:r>
              <a:rPr lang="en-US" altLang="zh-CN" dirty="0">
                <a:solidFill>
                  <a:schemeClr val="accent1">
                    <a:lumMod val="60000"/>
                    <a:lumOff val="40000"/>
                  </a:schemeClr>
                </a:solidFill>
                <a:latin typeface="Arial" panose="020B0604020202020204" pitchFamily="34" charset="0"/>
                <a:cs typeface="Arial" panose="020B0604020202020204" pitchFamily="34" charset="0"/>
              </a:rPr>
              <a:t>ALY</a:t>
            </a:r>
            <a:r>
              <a:rPr lang="zh-CN" altLang="en-US" dirty="0">
                <a:solidFill>
                  <a:schemeClr val="accent1">
                    <a:lumMod val="60000"/>
                    <a:lumOff val="40000"/>
                  </a:schemeClr>
                </a:solidFill>
                <a:latin typeface="Arial" panose="020B0604020202020204" pitchFamily="34" charset="0"/>
                <a:cs typeface="Arial" panose="020B0604020202020204" pitchFamily="34" charset="0"/>
              </a:rPr>
              <a:t> </a:t>
            </a:r>
            <a:r>
              <a:rPr lang="en-US" altLang="zh-CN" dirty="0">
                <a:solidFill>
                  <a:schemeClr val="accent1">
                    <a:lumMod val="60000"/>
                    <a:lumOff val="40000"/>
                  </a:schemeClr>
                </a:solidFill>
                <a:latin typeface="Arial" panose="020B0604020202020204" pitchFamily="34" charset="0"/>
                <a:cs typeface="Arial" panose="020B0604020202020204" pitchFamily="34" charset="0"/>
              </a:rPr>
              <a:t>6020_Predictive</a:t>
            </a:r>
            <a:r>
              <a:rPr lang="zh-CN" altLang="en-US" dirty="0">
                <a:solidFill>
                  <a:schemeClr val="accent1">
                    <a:lumMod val="60000"/>
                    <a:lumOff val="40000"/>
                  </a:schemeClr>
                </a:solidFill>
                <a:latin typeface="Arial" panose="020B0604020202020204" pitchFamily="34" charset="0"/>
                <a:cs typeface="Arial" panose="020B0604020202020204" pitchFamily="34" charset="0"/>
              </a:rPr>
              <a:t> </a:t>
            </a:r>
            <a:r>
              <a:rPr lang="en-US" altLang="zh-CN" dirty="0">
                <a:solidFill>
                  <a:schemeClr val="accent1">
                    <a:lumMod val="60000"/>
                    <a:lumOff val="40000"/>
                  </a:schemeClr>
                </a:solidFill>
                <a:latin typeface="Arial" panose="020B0604020202020204" pitchFamily="34" charset="0"/>
                <a:cs typeface="Arial" panose="020B0604020202020204" pitchFamily="34" charset="0"/>
              </a:rPr>
              <a:t>Analytics</a:t>
            </a:r>
          </a:p>
          <a:p>
            <a:endParaRPr lang="en-US" altLang="zh-CN" dirty="0">
              <a:solidFill>
                <a:schemeClr val="accent1">
                  <a:lumMod val="60000"/>
                  <a:lumOff val="40000"/>
                </a:schemeClr>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7F23844B-FFD8-6446-A197-17DE020FB72D}"/>
              </a:ext>
            </a:extLst>
          </p:cNvPr>
          <p:cNvSpPr txBox="1"/>
          <p:nvPr/>
        </p:nvSpPr>
        <p:spPr>
          <a:xfrm>
            <a:off x="8180294" y="4842374"/>
            <a:ext cx="3216363" cy="584775"/>
          </a:xfrm>
          <a:prstGeom prst="rect">
            <a:avLst/>
          </a:prstGeom>
          <a:noFill/>
        </p:spPr>
        <p:txBody>
          <a:bodyPr wrap="square" rtlCol="0">
            <a:spAutoFit/>
          </a:bodyPr>
          <a:lstStyle/>
          <a:p>
            <a:pPr algn="r"/>
            <a:r>
              <a:rPr lang="en-US" altLang="zh-CN" sz="1600" dirty="0">
                <a:solidFill>
                  <a:schemeClr val="accent1">
                    <a:lumMod val="40000"/>
                    <a:lumOff val="60000"/>
                  </a:schemeClr>
                </a:solidFill>
                <a:latin typeface="Arial" panose="020B0604020202020204" pitchFamily="34" charset="0"/>
                <a:cs typeface="Arial" panose="020B0604020202020204" pitchFamily="34" charset="0"/>
              </a:rPr>
              <a:t>Fall</a:t>
            </a:r>
            <a:r>
              <a:rPr lang="zh-CN" altLang="en-US" sz="1600" dirty="0">
                <a:solidFill>
                  <a:schemeClr val="accent1">
                    <a:lumMod val="40000"/>
                    <a:lumOff val="60000"/>
                  </a:schemeClr>
                </a:solidFill>
                <a:latin typeface="Arial" panose="020B0604020202020204" pitchFamily="34" charset="0"/>
                <a:cs typeface="Arial" panose="020B0604020202020204" pitchFamily="34" charset="0"/>
              </a:rPr>
              <a:t> </a:t>
            </a:r>
            <a:r>
              <a:rPr lang="en-US" altLang="zh-CN" sz="1600" dirty="0">
                <a:solidFill>
                  <a:schemeClr val="accent1">
                    <a:lumMod val="40000"/>
                    <a:lumOff val="60000"/>
                  </a:schemeClr>
                </a:solidFill>
                <a:latin typeface="Arial" panose="020B0604020202020204" pitchFamily="34" charset="0"/>
                <a:cs typeface="Arial" panose="020B0604020202020204" pitchFamily="34" charset="0"/>
              </a:rPr>
              <a:t>2020</a:t>
            </a:r>
            <a:r>
              <a:rPr lang="zh-CN" altLang="en-US" sz="1600" dirty="0">
                <a:solidFill>
                  <a:schemeClr val="accent1">
                    <a:lumMod val="40000"/>
                    <a:lumOff val="60000"/>
                  </a:schemeClr>
                </a:solidFill>
                <a:latin typeface="Arial" panose="020B0604020202020204" pitchFamily="34" charset="0"/>
                <a:cs typeface="Arial" panose="020B0604020202020204" pitchFamily="34" charset="0"/>
              </a:rPr>
              <a:t> </a:t>
            </a:r>
            <a:r>
              <a:rPr lang="en-US" altLang="zh-CN" sz="1600" dirty="0">
                <a:solidFill>
                  <a:schemeClr val="accent1">
                    <a:lumMod val="40000"/>
                    <a:lumOff val="60000"/>
                  </a:schemeClr>
                </a:solidFill>
                <a:latin typeface="Arial" panose="020B0604020202020204" pitchFamily="34" charset="0"/>
                <a:cs typeface="Arial" panose="020B0604020202020204" pitchFamily="34" charset="0"/>
              </a:rPr>
              <a:t>CPS</a:t>
            </a:r>
            <a:r>
              <a:rPr lang="zh-CN" altLang="en-US" sz="1600" dirty="0">
                <a:solidFill>
                  <a:schemeClr val="accent1">
                    <a:lumMod val="40000"/>
                    <a:lumOff val="60000"/>
                  </a:schemeClr>
                </a:solidFill>
                <a:latin typeface="Arial" panose="020B0604020202020204" pitchFamily="34" charset="0"/>
                <a:cs typeface="Arial" panose="020B0604020202020204" pitchFamily="34" charset="0"/>
              </a:rPr>
              <a:t> </a:t>
            </a:r>
            <a:r>
              <a:rPr lang="en-US" altLang="zh-CN" sz="1600" dirty="0">
                <a:solidFill>
                  <a:schemeClr val="accent1">
                    <a:lumMod val="40000"/>
                    <a:lumOff val="60000"/>
                  </a:schemeClr>
                </a:solidFill>
                <a:latin typeface="Arial" panose="020B0604020202020204" pitchFamily="34" charset="0"/>
                <a:cs typeface="Arial" panose="020B0604020202020204" pitchFamily="34" charset="0"/>
              </a:rPr>
              <a:t>Quarter</a:t>
            </a:r>
          </a:p>
          <a:p>
            <a:pPr algn="r"/>
            <a:r>
              <a:rPr lang="en-US" altLang="zh-CN" sz="1600" dirty="0">
                <a:solidFill>
                  <a:schemeClr val="accent1">
                    <a:lumMod val="40000"/>
                    <a:lumOff val="60000"/>
                  </a:schemeClr>
                </a:solidFill>
              </a:rPr>
              <a:t>Instructor:</a:t>
            </a:r>
            <a:r>
              <a:rPr lang="zh-CN" altLang="en-US" sz="1600" dirty="0">
                <a:solidFill>
                  <a:schemeClr val="accent1">
                    <a:lumMod val="40000"/>
                    <a:lumOff val="60000"/>
                  </a:schemeClr>
                </a:solidFill>
              </a:rPr>
              <a:t> </a:t>
            </a:r>
            <a:r>
              <a:rPr lang="en-US" altLang="zh-CN" sz="1600" dirty="0">
                <a:solidFill>
                  <a:schemeClr val="accent1">
                    <a:lumMod val="40000"/>
                    <a:lumOff val="60000"/>
                  </a:schemeClr>
                </a:solidFill>
              </a:rPr>
              <a:t>Steward</a:t>
            </a:r>
            <a:r>
              <a:rPr lang="zh-CN" altLang="en-US" sz="1600" dirty="0">
                <a:solidFill>
                  <a:schemeClr val="accent1">
                    <a:lumMod val="40000"/>
                    <a:lumOff val="60000"/>
                  </a:schemeClr>
                </a:solidFill>
              </a:rPr>
              <a:t> </a:t>
            </a:r>
            <a:r>
              <a:rPr lang="en-US" altLang="zh-CN" sz="1600" dirty="0">
                <a:solidFill>
                  <a:schemeClr val="accent1">
                    <a:lumMod val="40000"/>
                    <a:lumOff val="60000"/>
                  </a:schemeClr>
                </a:solidFill>
              </a:rPr>
              <a:t>Huang, PhD</a:t>
            </a:r>
            <a:endParaRPr lang="en-US" sz="1600" dirty="0">
              <a:solidFill>
                <a:schemeClr val="accent1">
                  <a:lumMod val="40000"/>
                  <a:lumOff val="60000"/>
                </a:schemeClr>
              </a:solidFill>
            </a:endParaRPr>
          </a:p>
        </p:txBody>
      </p:sp>
    </p:spTree>
    <p:extLst>
      <p:ext uri="{BB962C8B-B14F-4D97-AF65-F5344CB8AC3E}">
        <p14:creationId xmlns:p14="http://schemas.microsoft.com/office/powerpoint/2010/main" val="1414543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70979-7907-A04E-AE39-BA481361F220}"/>
              </a:ext>
            </a:extLst>
          </p:cNvPr>
          <p:cNvSpPr>
            <a:spLocks noGrp="1"/>
          </p:cNvSpPr>
          <p:nvPr>
            <p:ph type="title"/>
          </p:nvPr>
        </p:nvSpPr>
        <p:spPr/>
        <p:txBody>
          <a:bodyPr/>
          <a:lstStyle/>
          <a:p>
            <a:r>
              <a:rPr lang="en-US" altLang="zh-CN" dirty="0"/>
              <a:t>Content</a:t>
            </a:r>
            <a:endParaRPr lang="en-US" dirty="0"/>
          </a:p>
        </p:txBody>
      </p:sp>
      <p:sp>
        <p:nvSpPr>
          <p:cNvPr id="3" name="Content Placeholder 2">
            <a:extLst>
              <a:ext uri="{FF2B5EF4-FFF2-40B4-BE49-F238E27FC236}">
                <a16:creationId xmlns:a16="http://schemas.microsoft.com/office/drawing/2014/main" id="{90C75A21-B5E6-9747-B493-8B3B5D0A91C5}"/>
              </a:ext>
            </a:extLst>
          </p:cNvPr>
          <p:cNvSpPr>
            <a:spLocks noGrp="1"/>
          </p:cNvSpPr>
          <p:nvPr>
            <p:ph idx="1"/>
          </p:nvPr>
        </p:nvSpPr>
        <p:spPr/>
        <p:txBody>
          <a:bodyPr/>
          <a:lstStyle/>
          <a:p>
            <a:r>
              <a:rPr lang="en-US" altLang="zh-CN" dirty="0"/>
              <a:t>Introduction</a:t>
            </a:r>
          </a:p>
          <a:p>
            <a:r>
              <a:rPr lang="en-US" altLang="zh-CN" dirty="0"/>
              <a:t>Method</a:t>
            </a:r>
          </a:p>
          <a:p>
            <a:r>
              <a:rPr lang="en-US" altLang="zh-CN" dirty="0"/>
              <a:t>Analysis</a:t>
            </a:r>
          </a:p>
          <a:p>
            <a:pPr lvl="1"/>
            <a:r>
              <a:rPr lang="en-US" altLang="zh-CN" dirty="0"/>
              <a:t>Decision</a:t>
            </a:r>
            <a:r>
              <a:rPr lang="zh-CN" altLang="en-US" dirty="0"/>
              <a:t> </a:t>
            </a:r>
            <a:r>
              <a:rPr lang="en-US" altLang="zh-CN" dirty="0"/>
              <a:t>Tree</a:t>
            </a:r>
          </a:p>
          <a:p>
            <a:pPr lvl="1"/>
            <a:r>
              <a:rPr lang="en-US" altLang="zh-CN" dirty="0"/>
              <a:t>Random</a:t>
            </a:r>
            <a:r>
              <a:rPr lang="zh-CN" altLang="en-US" dirty="0"/>
              <a:t> </a:t>
            </a:r>
            <a:r>
              <a:rPr lang="en-US" altLang="zh-CN" dirty="0"/>
              <a:t>Forest</a:t>
            </a:r>
          </a:p>
          <a:p>
            <a:pPr lvl="1"/>
            <a:r>
              <a:rPr lang="en-US" altLang="zh-CN" dirty="0"/>
              <a:t>Logistic</a:t>
            </a:r>
            <a:r>
              <a:rPr lang="zh-CN" altLang="en-US" dirty="0"/>
              <a:t> </a:t>
            </a:r>
            <a:r>
              <a:rPr lang="en-US" altLang="zh-CN" dirty="0"/>
              <a:t>Model</a:t>
            </a:r>
          </a:p>
          <a:p>
            <a:r>
              <a:rPr lang="en-US" altLang="zh-CN" dirty="0"/>
              <a:t>Conclusions</a:t>
            </a:r>
          </a:p>
          <a:p>
            <a:pPr lvl="1"/>
            <a:endParaRPr lang="en-US" dirty="0"/>
          </a:p>
        </p:txBody>
      </p:sp>
      <p:sp>
        <p:nvSpPr>
          <p:cNvPr id="4" name="Footer Placeholder 3">
            <a:extLst>
              <a:ext uri="{FF2B5EF4-FFF2-40B4-BE49-F238E27FC236}">
                <a16:creationId xmlns:a16="http://schemas.microsoft.com/office/drawing/2014/main" id="{E1448E52-33CA-9442-B684-22DD9314DF48}"/>
              </a:ext>
            </a:extLst>
          </p:cNvPr>
          <p:cNvSpPr>
            <a:spLocks noGrp="1"/>
          </p:cNvSpPr>
          <p:nvPr>
            <p:ph type="ftr" sz="quarter" idx="11"/>
          </p:nvPr>
        </p:nvSpPr>
        <p:spPr/>
        <p:txBody>
          <a:bodyPr/>
          <a:lstStyle/>
          <a:p>
            <a:r>
              <a:rPr lang="en-US" altLang="zh-CN"/>
              <a:t>Heart</a:t>
            </a:r>
            <a:r>
              <a:rPr lang="zh-CN" altLang="en-US"/>
              <a:t> </a:t>
            </a:r>
            <a:r>
              <a:rPr lang="en-US" altLang="zh-CN"/>
              <a:t>Disease</a:t>
            </a:r>
            <a:r>
              <a:rPr lang="zh-CN" altLang="en-US"/>
              <a:t> </a:t>
            </a:r>
            <a:r>
              <a:rPr lang="en-US" altLang="zh-CN"/>
              <a:t>Classification</a:t>
            </a:r>
            <a:endParaRPr lang="en-US" dirty="0"/>
          </a:p>
        </p:txBody>
      </p:sp>
      <p:sp>
        <p:nvSpPr>
          <p:cNvPr id="5" name="Slide Number Placeholder 4">
            <a:extLst>
              <a:ext uri="{FF2B5EF4-FFF2-40B4-BE49-F238E27FC236}">
                <a16:creationId xmlns:a16="http://schemas.microsoft.com/office/drawing/2014/main" id="{FE8EF34D-FAC3-FF45-8AB3-CD7171ABAE58}"/>
              </a:ext>
            </a:extLst>
          </p:cNvPr>
          <p:cNvSpPr>
            <a:spLocks noGrp="1"/>
          </p:cNvSpPr>
          <p:nvPr>
            <p:ph type="sldNum" sz="quarter" idx="12"/>
          </p:nvPr>
        </p:nvSpPr>
        <p:spPr/>
        <p:txBody>
          <a:bodyPr/>
          <a:lstStyle/>
          <a:p>
            <a:fld id="{5E165751-051E-4045-BFA7-BDB2DD1CABB7}" type="slidenum">
              <a:rPr lang="en-US" smtClean="0"/>
              <a:pPr/>
              <a:t>1</a:t>
            </a:fld>
            <a:endParaRPr lang="en-US"/>
          </a:p>
        </p:txBody>
      </p:sp>
    </p:spTree>
    <p:extLst>
      <p:ext uri="{BB962C8B-B14F-4D97-AF65-F5344CB8AC3E}">
        <p14:creationId xmlns:p14="http://schemas.microsoft.com/office/powerpoint/2010/main" val="1257563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280CB-F433-674B-921C-D8819F43A655}"/>
              </a:ext>
            </a:extLst>
          </p:cNvPr>
          <p:cNvSpPr>
            <a:spLocks noGrp="1"/>
          </p:cNvSpPr>
          <p:nvPr>
            <p:ph type="title"/>
          </p:nvPr>
        </p:nvSpPr>
        <p:spPr/>
        <p:txBody>
          <a:bodyPr/>
          <a:lstStyle/>
          <a:p>
            <a:r>
              <a:rPr lang="en-US" altLang="zh-CN" dirty="0"/>
              <a:t>Introduction</a:t>
            </a:r>
            <a:endParaRPr lang="en-US" dirty="0"/>
          </a:p>
        </p:txBody>
      </p:sp>
      <p:sp>
        <p:nvSpPr>
          <p:cNvPr id="4" name="Footer Placeholder 3">
            <a:extLst>
              <a:ext uri="{FF2B5EF4-FFF2-40B4-BE49-F238E27FC236}">
                <a16:creationId xmlns:a16="http://schemas.microsoft.com/office/drawing/2014/main" id="{0DC1C001-A829-B349-8D7B-29088A3B70F7}"/>
              </a:ext>
            </a:extLst>
          </p:cNvPr>
          <p:cNvSpPr>
            <a:spLocks noGrp="1"/>
          </p:cNvSpPr>
          <p:nvPr>
            <p:ph type="ftr" sz="quarter" idx="11"/>
          </p:nvPr>
        </p:nvSpPr>
        <p:spPr/>
        <p:txBody>
          <a:bodyPr/>
          <a:lstStyle/>
          <a:p>
            <a:r>
              <a:rPr lang="en-US" altLang="zh-CN"/>
              <a:t>Heart</a:t>
            </a:r>
            <a:r>
              <a:rPr lang="zh-CN" altLang="en-US"/>
              <a:t> </a:t>
            </a:r>
            <a:r>
              <a:rPr lang="en-US" altLang="zh-CN"/>
              <a:t>Disease</a:t>
            </a:r>
            <a:r>
              <a:rPr lang="zh-CN" altLang="en-US"/>
              <a:t> </a:t>
            </a:r>
            <a:r>
              <a:rPr lang="en-US" altLang="zh-CN"/>
              <a:t>Classification</a:t>
            </a:r>
            <a:endParaRPr lang="en-US" dirty="0"/>
          </a:p>
        </p:txBody>
      </p:sp>
      <p:sp>
        <p:nvSpPr>
          <p:cNvPr id="5" name="Slide Number Placeholder 4">
            <a:extLst>
              <a:ext uri="{FF2B5EF4-FFF2-40B4-BE49-F238E27FC236}">
                <a16:creationId xmlns:a16="http://schemas.microsoft.com/office/drawing/2014/main" id="{6B3E6919-4F2A-F24C-8F41-5EF7119BA57F}"/>
              </a:ext>
            </a:extLst>
          </p:cNvPr>
          <p:cNvSpPr>
            <a:spLocks noGrp="1"/>
          </p:cNvSpPr>
          <p:nvPr>
            <p:ph type="sldNum" sz="quarter" idx="12"/>
          </p:nvPr>
        </p:nvSpPr>
        <p:spPr/>
        <p:txBody>
          <a:bodyPr/>
          <a:lstStyle/>
          <a:p>
            <a:fld id="{5E165751-051E-4045-BFA7-BDB2DD1CABB7}" type="slidenum">
              <a:rPr lang="en-US" smtClean="0"/>
              <a:pPr/>
              <a:t>2</a:t>
            </a:fld>
            <a:endParaRPr lang="en-US"/>
          </a:p>
        </p:txBody>
      </p:sp>
      <p:pic>
        <p:nvPicPr>
          <p:cNvPr id="6" name="Picture 5" descr="Table&#10;&#10;Description automatically generated">
            <a:extLst>
              <a:ext uri="{FF2B5EF4-FFF2-40B4-BE49-F238E27FC236}">
                <a16:creationId xmlns:a16="http://schemas.microsoft.com/office/drawing/2014/main" id="{5011D1AB-18D8-984E-A718-C0B431AB13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5414" y="2186762"/>
            <a:ext cx="10216465" cy="2484475"/>
          </a:xfrm>
          <a:prstGeom prst="rect">
            <a:avLst/>
          </a:prstGeom>
        </p:spPr>
      </p:pic>
    </p:spTree>
    <p:extLst>
      <p:ext uri="{BB962C8B-B14F-4D97-AF65-F5344CB8AC3E}">
        <p14:creationId xmlns:p14="http://schemas.microsoft.com/office/powerpoint/2010/main" val="236710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56F58-BE10-F347-81BE-BB99F3181B18}"/>
              </a:ext>
            </a:extLst>
          </p:cNvPr>
          <p:cNvSpPr>
            <a:spLocks noGrp="1"/>
          </p:cNvSpPr>
          <p:nvPr>
            <p:ph type="title"/>
          </p:nvPr>
        </p:nvSpPr>
        <p:spPr/>
        <p:txBody>
          <a:bodyPr/>
          <a:lstStyle/>
          <a:p>
            <a:r>
              <a:rPr lang="en-US" dirty="0"/>
              <a:t>Method</a:t>
            </a:r>
          </a:p>
        </p:txBody>
      </p:sp>
      <p:sp>
        <p:nvSpPr>
          <p:cNvPr id="3" name="Content Placeholder 2">
            <a:extLst>
              <a:ext uri="{FF2B5EF4-FFF2-40B4-BE49-F238E27FC236}">
                <a16:creationId xmlns:a16="http://schemas.microsoft.com/office/drawing/2014/main" id="{552F486F-DF8F-174E-A117-A7236BF98024}"/>
              </a:ext>
            </a:extLst>
          </p:cNvPr>
          <p:cNvSpPr>
            <a:spLocks noGrp="1"/>
          </p:cNvSpPr>
          <p:nvPr>
            <p:ph idx="1"/>
          </p:nvPr>
        </p:nvSpPr>
        <p:spPr/>
        <p:txBody>
          <a:bodyPr/>
          <a:lstStyle/>
          <a:p>
            <a:r>
              <a:rPr lang="en-US" dirty="0"/>
              <a:t>k-mean Nearest Neighbors (k-NN)</a:t>
            </a:r>
          </a:p>
          <a:p>
            <a:r>
              <a:rPr lang="en-US" dirty="0"/>
              <a:t>Naïve Bayes</a:t>
            </a:r>
          </a:p>
          <a:p>
            <a:r>
              <a:rPr lang="en-US" dirty="0"/>
              <a:t>Decision Tree</a:t>
            </a:r>
          </a:p>
          <a:p>
            <a:r>
              <a:rPr lang="en-US" dirty="0"/>
              <a:t>Random Forest</a:t>
            </a:r>
          </a:p>
          <a:p>
            <a:r>
              <a:rPr lang="en-US" dirty="0"/>
              <a:t>Logistic Model</a:t>
            </a:r>
          </a:p>
          <a:p>
            <a:endParaRPr lang="en-US" dirty="0"/>
          </a:p>
        </p:txBody>
      </p:sp>
      <p:sp>
        <p:nvSpPr>
          <p:cNvPr id="4" name="Footer Placeholder 3">
            <a:extLst>
              <a:ext uri="{FF2B5EF4-FFF2-40B4-BE49-F238E27FC236}">
                <a16:creationId xmlns:a16="http://schemas.microsoft.com/office/drawing/2014/main" id="{7E3C9B03-B51E-3C4A-B382-4EF8CB50AC3A}"/>
              </a:ext>
            </a:extLst>
          </p:cNvPr>
          <p:cNvSpPr>
            <a:spLocks noGrp="1"/>
          </p:cNvSpPr>
          <p:nvPr>
            <p:ph type="ftr" sz="quarter" idx="11"/>
          </p:nvPr>
        </p:nvSpPr>
        <p:spPr/>
        <p:txBody>
          <a:bodyPr/>
          <a:lstStyle/>
          <a:p>
            <a:r>
              <a:rPr lang="en-US" altLang="zh-CN"/>
              <a:t>Heart</a:t>
            </a:r>
            <a:r>
              <a:rPr lang="zh-CN" altLang="en-US"/>
              <a:t> </a:t>
            </a:r>
            <a:r>
              <a:rPr lang="en-US" altLang="zh-CN"/>
              <a:t>Disease</a:t>
            </a:r>
            <a:r>
              <a:rPr lang="zh-CN" altLang="en-US"/>
              <a:t> </a:t>
            </a:r>
            <a:r>
              <a:rPr lang="en-US" altLang="zh-CN"/>
              <a:t>Classification</a:t>
            </a:r>
            <a:endParaRPr lang="en-US" dirty="0"/>
          </a:p>
        </p:txBody>
      </p:sp>
      <p:sp>
        <p:nvSpPr>
          <p:cNvPr id="5" name="Slide Number Placeholder 4">
            <a:extLst>
              <a:ext uri="{FF2B5EF4-FFF2-40B4-BE49-F238E27FC236}">
                <a16:creationId xmlns:a16="http://schemas.microsoft.com/office/drawing/2014/main" id="{537B578B-B0CE-8F4E-9848-1C2884CCA18D}"/>
              </a:ext>
            </a:extLst>
          </p:cNvPr>
          <p:cNvSpPr>
            <a:spLocks noGrp="1"/>
          </p:cNvSpPr>
          <p:nvPr>
            <p:ph type="sldNum" sz="quarter" idx="12"/>
          </p:nvPr>
        </p:nvSpPr>
        <p:spPr/>
        <p:txBody>
          <a:bodyPr/>
          <a:lstStyle/>
          <a:p>
            <a:fld id="{5E165751-051E-4045-BFA7-BDB2DD1CABB7}" type="slidenum">
              <a:rPr lang="en-US" smtClean="0"/>
              <a:pPr/>
              <a:t>3</a:t>
            </a:fld>
            <a:endParaRPr lang="en-US"/>
          </a:p>
        </p:txBody>
      </p:sp>
    </p:spTree>
    <p:extLst>
      <p:ext uri="{BB962C8B-B14F-4D97-AF65-F5344CB8AC3E}">
        <p14:creationId xmlns:p14="http://schemas.microsoft.com/office/powerpoint/2010/main" val="950174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A09C4-8265-ED40-8E08-F20E67CFE993}"/>
              </a:ext>
            </a:extLst>
          </p:cNvPr>
          <p:cNvSpPr>
            <a:spLocks noGrp="1"/>
          </p:cNvSpPr>
          <p:nvPr>
            <p:ph type="title"/>
          </p:nvPr>
        </p:nvSpPr>
        <p:spPr/>
        <p:txBody>
          <a:bodyPr/>
          <a:lstStyle/>
          <a:p>
            <a:r>
              <a:rPr lang="en-US" dirty="0"/>
              <a:t>Analysis – Data Cleaning</a:t>
            </a:r>
          </a:p>
        </p:txBody>
      </p:sp>
      <p:sp>
        <p:nvSpPr>
          <p:cNvPr id="4" name="Footer Placeholder 3">
            <a:extLst>
              <a:ext uri="{FF2B5EF4-FFF2-40B4-BE49-F238E27FC236}">
                <a16:creationId xmlns:a16="http://schemas.microsoft.com/office/drawing/2014/main" id="{216D76DE-7B70-A248-9221-1A4B66531694}"/>
              </a:ext>
            </a:extLst>
          </p:cNvPr>
          <p:cNvSpPr>
            <a:spLocks noGrp="1"/>
          </p:cNvSpPr>
          <p:nvPr>
            <p:ph type="ftr" sz="quarter" idx="11"/>
          </p:nvPr>
        </p:nvSpPr>
        <p:spPr/>
        <p:txBody>
          <a:bodyPr/>
          <a:lstStyle/>
          <a:p>
            <a:r>
              <a:rPr lang="en-US" altLang="zh-CN"/>
              <a:t>Heart</a:t>
            </a:r>
            <a:r>
              <a:rPr lang="zh-CN" altLang="en-US"/>
              <a:t> </a:t>
            </a:r>
            <a:r>
              <a:rPr lang="en-US" altLang="zh-CN"/>
              <a:t>Disease</a:t>
            </a:r>
            <a:r>
              <a:rPr lang="zh-CN" altLang="en-US"/>
              <a:t> </a:t>
            </a:r>
            <a:r>
              <a:rPr lang="en-US" altLang="zh-CN"/>
              <a:t>Classification</a:t>
            </a:r>
            <a:endParaRPr lang="en-US" dirty="0"/>
          </a:p>
        </p:txBody>
      </p:sp>
      <p:sp>
        <p:nvSpPr>
          <p:cNvPr id="5" name="Slide Number Placeholder 4">
            <a:extLst>
              <a:ext uri="{FF2B5EF4-FFF2-40B4-BE49-F238E27FC236}">
                <a16:creationId xmlns:a16="http://schemas.microsoft.com/office/drawing/2014/main" id="{5D0BB691-984F-D847-A1CC-68A28003E8FE}"/>
              </a:ext>
            </a:extLst>
          </p:cNvPr>
          <p:cNvSpPr>
            <a:spLocks noGrp="1"/>
          </p:cNvSpPr>
          <p:nvPr>
            <p:ph type="sldNum" sz="quarter" idx="12"/>
          </p:nvPr>
        </p:nvSpPr>
        <p:spPr/>
        <p:txBody>
          <a:bodyPr/>
          <a:lstStyle/>
          <a:p>
            <a:fld id="{5E165751-051E-4045-BFA7-BDB2DD1CABB7}" type="slidenum">
              <a:rPr lang="en-US" smtClean="0"/>
              <a:pPr/>
              <a:t>4</a:t>
            </a:fld>
            <a:endParaRPr lang="en-US"/>
          </a:p>
        </p:txBody>
      </p:sp>
      <p:pic>
        <p:nvPicPr>
          <p:cNvPr id="6" name="Picture 5" descr="Table&#10;&#10;Description automatically generated">
            <a:extLst>
              <a:ext uri="{FF2B5EF4-FFF2-40B4-BE49-F238E27FC236}">
                <a16:creationId xmlns:a16="http://schemas.microsoft.com/office/drawing/2014/main" id="{6DC310EF-17AA-BD46-85CC-0612100D13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9909" y="2515581"/>
            <a:ext cx="7512181" cy="1826838"/>
          </a:xfrm>
          <a:prstGeom prst="rect">
            <a:avLst/>
          </a:prstGeom>
        </p:spPr>
      </p:pic>
    </p:spTree>
    <p:extLst>
      <p:ext uri="{BB962C8B-B14F-4D97-AF65-F5344CB8AC3E}">
        <p14:creationId xmlns:p14="http://schemas.microsoft.com/office/powerpoint/2010/main" val="3290926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0C26A-CF0C-A445-B936-45F34877C931}"/>
              </a:ext>
            </a:extLst>
          </p:cNvPr>
          <p:cNvSpPr>
            <a:spLocks noGrp="1"/>
          </p:cNvSpPr>
          <p:nvPr>
            <p:ph type="title"/>
          </p:nvPr>
        </p:nvSpPr>
        <p:spPr/>
        <p:txBody>
          <a:bodyPr/>
          <a:lstStyle/>
          <a:p>
            <a:r>
              <a:rPr lang="en-US" dirty="0"/>
              <a:t>Analysis – Data Cleaning</a:t>
            </a:r>
          </a:p>
        </p:txBody>
      </p:sp>
      <p:sp>
        <p:nvSpPr>
          <p:cNvPr id="4" name="Footer Placeholder 3">
            <a:extLst>
              <a:ext uri="{FF2B5EF4-FFF2-40B4-BE49-F238E27FC236}">
                <a16:creationId xmlns:a16="http://schemas.microsoft.com/office/drawing/2014/main" id="{09A30C81-23F6-6E4C-BE02-87B94908483E}"/>
              </a:ext>
            </a:extLst>
          </p:cNvPr>
          <p:cNvSpPr>
            <a:spLocks noGrp="1"/>
          </p:cNvSpPr>
          <p:nvPr>
            <p:ph type="ftr" sz="quarter" idx="11"/>
          </p:nvPr>
        </p:nvSpPr>
        <p:spPr/>
        <p:txBody>
          <a:bodyPr/>
          <a:lstStyle/>
          <a:p>
            <a:r>
              <a:rPr lang="en-US" altLang="zh-CN"/>
              <a:t>Heart</a:t>
            </a:r>
            <a:r>
              <a:rPr lang="zh-CN" altLang="en-US"/>
              <a:t> </a:t>
            </a:r>
            <a:r>
              <a:rPr lang="en-US" altLang="zh-CN"/>
              <a:t>Disease</a:t>
            </a:r>
            <a:r>
              <a:rPr lang="zh-CN" altLang="en-US"/>
              <a:t> </a:t>
            </a:r>
            <a:r>
              <a:rPr lang="en-US" altLang="zh-CN"/>
              <a:t>Classification</a:t>
            </a:r>
            <a:endParaRPr lang="en-US" dirty="0"/>
          </a:p>
        </p:txBody>
      </p:sp>
      <p:sp>
        <p:nvSpPr>
          <p:cNvPr id="5" name="Slide Number Placeholder 4">
            <a:extLst>
              <a:ext uri="{FF2B5EF4-FFF2-40B4-BE49-F238E27FC236}">
                <a16:creationId xmlns:a16="http://schemas.microsoft.com/office/drawing/2014/main" id="{3CAC3C0E-5F11-9945-9B9C-EEBCD3420D1F}"/>
              </a:ext>
            </a:extLst>
          </p:cNvPr>
          <p:cNvSpPr>
            <a:spLocks noGrp="1"/>
          </p:cNvSpPr>
          <p:nvPr>
            <p:ph type="sldNum" sz="quarter" idx="12"/>
          </p:nvPr>
        </p:nvSpPr>
        <p:spPr/>
        <p:txBody>
          <a:bodyPr/>
          <a:lstStyle/>
          <a:p>
            <a:fld id="{5E165751-051E-4045-BFA7-BDB2DD1CABB7}" type="slidenum">
              <a:rPr lang="en-US" smtClean="0"/>
              <a:pPr/>
              <a:t>5</a:t>
            </a:fld>
            <a:endParaRPr lang="en-US"/>
          </a:p>
        </p:txBody>
      </p:sp>
      <p:sp>
        <p:nvSpPr>
          <p:cNvPr id="8" name="Rectangle 7">
            <a:extLst>
              <a:ext uri="{FF2B5EF4-FFF2-40B4-BE49-F238E27FC236}">
                <a16:creationId xmlns:a16="http://schemas.microsoft.com/office/drawing/2014/main" id="{2D1E6F8A-61AF-0A48-8FEE-8D88C0110289}"/>
              </a:ext>
            </a:extLst>
          </p:cNvPr>
          <p:cNvSpPr/>
          <p:nvPr/>
        </p:nvSpPr>
        <p:spPr>
          <a:xfrm>
            <a:off x="0" y="1493134"/>
            <a:ext cx="12192000" cy="4456253"/>
          </a:xfrm>
          <a:prstGeom prst="rect">
            <a:avLst/>
          </a:prstGeom>
          <a:solidFill>
            <a:srgbClr val="EDB7B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8A0E5FC-6AC5-BD46-B2B9-50F36B91F8CB}"/>
              </a:ext>
            </a:extLst>
          </p:cNvPr>
          <p:cNvSpPr/>
          <p:nvPr/>
        </p:nvSpPr>
        <p:spPr>
          <a:xfrm>
            <a:off x="239211" y="1898248"/>
            <a:ext cx="5706319" cy="3634451"/>
          </a:xfrm>
          <a:prstGeom prst="rect">
            <a:avLst/>
          </a:prstGeom>
          <a:solidFill>
            <a:schemeClr val="bg1"/>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pic>
        <p:nvPicPr>
          <p:cNvPr id="6" name="Picture 5" descr="A picture containing text&#10;&#10;Description automatically generated">
            <a:extLst>
              <a:ext uri="{FF2B5EF4-FFF2-40B4-BE49-F238E27FC236}">
                <a16:creationId xmlns:a16="http://schemas.microsoft.com/office/drawing/2014/main" id="{538CA9FC-B836-534D-98E7-FD920D715891}"/>
              </a:ext>
            </a:extLst>
          </p:cNvPr>
          <p:cNvPicPr/>
          <p:nvPr/>
        </p:nvPicPr>
        <p:blipFill>
          <a:blip r:embed="rId3">
            <a:extLst>
              <a:ext uri="{28A0092B-C50C-407E-A947-70E740481C1C}">
                <a14:useLocalDpi xmlns:a14="http://schemas.microsoft.com/office/drawing/2010/main" val="0"/>
              </a:ext>
            </a:extLst>
          </a:blip>
          <a:stretch>
            <a:fillRect/>
          </a:stretch>
        </p:blipFill>
        <p:spPr>
          <a:xfrm>
            <a:off x="643301" y="2476105"/>
            <a:ext cx="4974336" cy="2325501"/>
          </a:xfrm>
          <a:prstGeom prst="rect">
            <a:avLst/>
          </a:prstGeom>
        </p:spPr>
      </p:pic>
      <p:sp>
        <p:nvSpPr>
          <p:cNvPr id="11" name="Rectangle 10">
            <a:extLst>
              <a:ext uri="{FF2B5EF4-FFF2-40B4-BE49-F238E27FC236}">
                <a16:creationId xmlns:a16="http://schemas.microsoft.com/office/drawing/2014/main" id="{5B33A8F9-3401-9942-8F2A-7AF96B4376D3}"/>
              </a:ext>
            </a:extLst>
          </p:cNvPr>
          <p:cNvSpPr/>
          <p:nvPr/>
        </p:nvSpPr>
        <p:spPr>
          <a:xfrm>
            <a:off x="6246471" y="1898248"/>
            <a:ext cx="5706319" cy="3634451"/>
          </a:xfrm>
          <a:prstGeom prst="rect">
            <a:avLst/>
          </a:prstGeom>
          <a:solidFill>
            <a:schemeClr val="bg1"/>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pic>
        <p:nvPicPr>
          <p:cNvPr id="7" name="Picture 6" descr="Text, letter&#10;&#10;Description automatically generated">
            <a:extLst>
              <a:ext uri="{FF2B5EF4-FFF2-40B4-BE49-F238E27FC236}">
                <a16:creationId xmlns:a16="http://schemas.microsoft.com/office/drawing/2014/main" id="{91908B59-B610-D04A-9EA8-0B6BE47A5CE9}"/>
              </a:ext>
            </a:extLst>
          </p:cNvPr>
          <p:cNvPicPr>
            <a:picLocks noChangeAspect="1"/>
          </p:cNvPicPr>
          <p:nvPr/>
        </p:nvPicPr>
        <p:blipFill rotWithShape="1">
          <a:blip r:embed="rId4"/>
          <a:srcRect r="10160"/>
          <a:stretch/>
        </p:blipFill>
        <p:spPr>
          <a:xfrm>
            <a:off x="6574365" y="2476104"/>
            <a:ext cx="4974337" cy="2325501"/>
          </a:xfrm>
          <a:prstGeom prst="rect">
            <a:avLst/>
          </a:prstGeom>
        </p:spPr>
      </p:pic>
    </p:spTree>
    <p:extLst>
      <p:ext uri="{BB962C8B-B14F-4D97-AF65-F5344CB8AC3E}">
        <p14:creationId xmlns:p14="http://schemas.microsoft.com/office/powerpoint/2010/main" val="3042860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C6109-4FAB-1041-999C-4BE9331277A6}"/>
              </a:ext>
            </a:extLst>
          </p:cNvPr>
          <p:cNvSpPr>
            <a:spLocks noGrp="1"/>
          </p:cNvSpPr>
          <p:nvPr>
            <p:ph type="title"/>
          </p:nvPr>
        </p:nvSpPr>
        <p:spPr/>
        <p:txBody>
          <a:bodyPr/>
          <a:lstStyle/>
          <a:p>
            <a:r>
              <a:rPr lang="en-US" dirty="0"/>
              <a:t>Analysis – Decision Tree</a:t>
            </a:r>
          </a:p>
        </p:txBody>
      </p:sp>
      <p:sp>
        <p:nvSpPr>
          <p:cNvPr id="4" name="Footer Placeholder 3">
            <a:extLst>
              <a:ext uri="{FF2B5EF4-FFF2-40B4-BE49-F238E27FC236}">
                <a16:creationId xmlns:a16="http://schemas.microsoft.com/office/drawing/2014/main" id="{8317FD20-2A1B-4D46-A412-BF28452EF222}"/>
              </a:ext>
            </a:extLst>
          </p:cNvPr>
          <p:cNvSpPr>
            <a:spLocks noGrp="1"/>
          </p:cNvSpPr>
          <p:nvPr>
            <p:ph type="ftr" sz="quarter" idx="11"/>
          </p:nvPr>
        </p:nvSpPr>
        <p:spPr/>
        <p:txBody>
          <a:bodyPr/>
          <a:lstStyle/>
          <a:p>
            <a:r>
              <a:rPr lang="en-US" altLang="zh-CN"/>
              <a:t>Heart</a:t>
            </a:r>
            <a:r>
              <a:rPr lang="zh-CN" altLang="en-US"/>
              <a:t> </a:t>
            </a:r>
            <a:r>
              <a:rPr lang="en-US" altLang="zh-CN"/>
              <a:t>Disease</a:t>
            </a:r>
            <a:r>
              <a:rPr lang="zh-CN" altLang="en-US"/>
              <a:t> </a:t>
            </a:r>
            <a:r>
              <a:rPr lang="en-US" altLang="zh-CN"/>
              <a:t>Classification</a:t>
            </a:r>
            <a:endParaRPr lang="en-US" dirty="0"/>
          </a:p>
        </p:txBody>
      </p:sp>
      <p:sp>
        <p:nvSpPr>
          <p:cNvPr id="5" name="Slide Number Placeholder 4">
            <a:extLst>
              <a:ext uri="{FF2B5EF4-FFF2-40B4-BE49-F238E27FC236}">
                <a16:creationId xmlns:a16="http://schemas.microsoft.com/office/drawing/2014/main" id="{4547E521-4DD1-0F41-BC59-C93C469ACC32}"/>
              </a:ext>
            </a:extLst>
          </p:cNvPr>
          <p:cNvSpPr>
            <a:spLocks noGrp="1"/>
          </p:cNvSpPr>
          <p:nvPr>
            <p:ph type="sldNum" sz="quarter" idx="12"/>
          </p:nvPr>
        </p:nvSpPr>
        <p:spPr/>
        <p:txBody>
          <a:bodyPr/>
          <a:lstStyle/>
          <a:p>
            <a:fld id="{5E165751-051E-4045-BFA7-BDB2DD1CABB7}" type="slidenum">
              <a:rPr lang="en-US" smtClean="0"/>
              <a:pPr/>
              <a:t>6</a:t>
            </a:fld>
            <a:endParaRPr lang="en-US"/>
          </a:p>
        </p:txBody>
      </p:sp>
      <p:pic>
        <p:nvPicPr>
          <p:cNvPr id="7" name="Picture 6" descr="Table&#10;&#10;Description automatically generated">
            <a:extLst>
              <a:ext uri="{FF2B5EF4-FFF2-40B4-BE49-F238E27FC236}">
                <a16:creationId xmlns:a16="http://schemas.microsoft.com/office/drawing/2014/main" id="{959DBFD6-0214-FC48-9A88-ACEFAEFF2455}"/>
              </a:ext>
            </a:extLst>
          </p:cNvPr>
          <p:cNvPicPr/>
          <p:nvPr/>
        </p:nvPicPr>
        <p:blipFill>
          <a:blip r:embed="rId3">
            <a:extLst>
              <a:ext uri="{28A0092B-C50C-407E-A947-70E740481C1C}">
                <a14:useLocalDpi xmlns:a14="http://schemas.microsoft.com/office/drawing/2010/main" val="0"/>
              </a:ext>
            </a:extLst>
          </a:blip>
          <a:stretch>
            <a:fillRect/>
          </a:stretch>
        </p:blipFill>
        <p:spPr>
          <a:xfrm>
            <a:off x="838200" y="1732996"/>
            <a:ext cx="4800600" cy="4320563"/>
          </a:xfrm>
          <a:prstGeom prst="rect">
            <a:avLst/>
          </a:prstGeom>
        </p:spPr>
      </p:pic>
      <p:pic>
        <p:nvPicPr>
          <p:cNvPr id="8" name="Picture 7" descr="Table&#10;&#10;Description automatically generated">
            <a:extLst>
              <a:ext uri="{FF2B5EF4-FFF2-40B4-BE49-F238E27FC236}">
                <a16:creationId xmlns:a16="http://schemas.microsoft.com/office/drawing/2014/main" id="{C32B2F33-D2A1-8540-BD11-E30979698D25}"/>
              </a:ext>
            </a:extLst>
          </p:cNvPr>
          <p:cNvPicPr>
            <a:picLocks noChangeAspect="1"/>
          </p:cNvPicPr>
          <p:nvPr/>
        </p:nvPicPr>
        <p:blipFill rotWithShape="1">
          <a:blip r:embed="rId4">
            <a:extLst>
              <a:ext uri="{28A0092B-C50C-407E-A947-70E740481C1C}">
                <a14:useLocalDpi xmlns:a14="http://schemas.microsoft.com/office/drawing/2010/main" val="0"/>
              </a:ext>
            </a:extLst>
          </a:blip>
          <a:srcRect l="7861" t="57644" r="67755"/>
          <a:stretch/>
        </p:blipFill>
        <p:spPr bwMode="auto">
          <a:xfrm>
            <a:off x="4249643" y="4313309"/>
            <a:ext cx="1291927" cy="1737399"/>
          </a:xfrm>
          <a:prstGeom prst="rect">
            <a:avLst/>
          </a:prstGeom>
          <a:ln>
            <a:noFill/>
          </a:ln>
          <a:extLst>
            <a:ext uri="{53640926-AAD7-44D8-BBD7-CCE9431645EC}">
              <a14:shadowObscured xmlns:a14="http://schemas.microsoft.com/office/drawing/2010/main"/>
            </a:ext>
          </a:extLst>
        </p:spPr>
      </p:pic>
      <p:pic>
        <p:nvPicPr>
          <p:cNvPr id="10" name="Picture 9" descr="Table&#10;&#10;Description automatically generated">
            <a:extLst>
              <a:ext uri="{FF2B5EF4-FFF2-40B4-BE49-F238E27FC236}">
                <a16:creationId xmlns:a16="http://schemas.microsoft.com/office/drawing/2014/main" id="{2A1ECD7B-AAA2-7742-8DFF-4E3AC58B22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3479" y="3839373"/>
            <a:ext cx="4998333" cy="2211335"/>
          </a:xfrm>
          <a:prstGeom prst="rect">
            <a:avLst/>
          </a:prstGeom>
        </p:spPr>
      </p:pic>
      <p:pic>
        <p:nvPicPr>
          <p:cNvPr id="9" name="Picture 8" descr="A picture containing graphical user interface&#10;&#10;Description automatically generated">
            <a:extLst>
              <a:ext uri="{FF2B5EF4-FFF2-40B4-BE49-F238E27FC236}">
                <a16:creationId xmlns:a16="http://schemas.microsoft.com/office/drawing/2014/main" id="{E10DE871-80F6-9F46-A2BC-FA1586695CA6}"/>
              </a:ext>
            </a:extLst>
          </p:cNvPr>
          <p:cNvPicPr/>
          <p:nvPr/>
        </p:nvPicPr>
        <p:blipFill rotWithShape="1">
          <a:blip r:embed="rId6">
            <a:extLst>
              <a:ext uri="{28A0092B-C50C-407E-A947-70E740481C1C}">
                <a14:useLocalDpi xmlns:a14="http://schemas.microsoft.com/office/drawing/2010/main" val="0"/>
              </a:ext>
            </a:extLst>
          </a:blip>
          <a:srcRect l="8580" r="66805"/>
          <a:stretch/>
        </p:blipFill>
        <p:spPr>
          <a:xfrm>
            <a:off x="9979885" y="3545757"/>
            <a:ext cx="1291927" cy="2504951"/>
          </a:xfrm>
          <a:prstGeom prst="rect">
            <a:avLst/>
          </a:prstGeom>
        </p:spPr>
      </p:pic>
    </p:spTree>
    <p:extLst>
      <p:ext uri="{BB962C8B-B14F-4D97-AF65-F5344CB8AC3E}">
        <p14:creationId xmlns:p14="http://schemas.microsoft.com/office/powerpoint/2010/main" val="210350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81B32-F1E2-8942-9AC7-8DCAF16B6EDA}"/>
              </a:ext>
            </a:extLst>
          </p:cNvPr>
          <p:cNvSpPr>
            <a:spLocks noGrp="1"/>
          </p:cNvSpPr>
          <p:nvPr>
            <p:ph type="title"/>
          </p:nvPr>
        </p:nvSpPr>
        <p:spPr/>
        <p:txBody>
          <a:bodyPr/>
          <a:lstStyle/>
          <a:p>
            <a:r>
              <a:rPr lang="en-US" dirty="0"/>
              <a:t>Analysis – Random Forest</a:t>
            </a:r>
          </a:p>
        </p:txBody>
      </p:sp>
      <p:sp>
        <p:nvSpPr>
          <p:cNvPr id="4" name="Footer Placeholder 3">
            <a:extLst>
              <a:ext uri="{FF2B5EF4-FFF2-40B4-BE49-F238E27FC236}">
                <a16:creationId xmlns:a16="http://schemas.microsoft.com/office/drawing/2014/main" id="{F91BD12E-AA0D-C64C-99C9-C6A6E05381A6}"/>
              </a:ext>
            </a:extLst>
          </p:cNvPr>
          <p:cNvSpPr>
            <a:spLocks noGrp="1"/>
          </p:cNvSpPr>
          <p:nvPr>
            <p:ph type="ftr" sz="quarter" idx="11"/>
          </p:nvPr>
        </p:nvSpPr>
        <p:spPr/>
        <p:txBody>
          <a:bodyPr/>
          <a:lstStyle/>
          <a:p>
            <a:r>
              <a:rPr lang="en-US" altLang="zh-CN"/>
              <a:t>Heart</a:t>
            </a:r>
            <a:r>
              <a:rPr lang="zh-CN" altLang="en-US"/>
              <a:t> </a:t>
            </a:r>
            <a:r>
              <a:rPr lang="en-US" altLang="zh-CN"/>
              <a:t>Disease</a:t>
            </a:r>
            <a:r>
              <a:rPr lang="zh-CN" altLang="en-US"/>
              <a:t> </a:t>
            </a:r>
            <a:r>
              <a:rPr lang="en-US" altLang="zh-CN"/>
              <a:t>Classification</a:t>
            </a:r>
            <a:endParaRPr lang="en-US" dirty="0"/>
          </a:p>
        </p:txBody>
      </p:sp>
      <p:sp>
        <p:nvSpPr>
          <p:cNvPr id="5" name="Slide Number Placeholder 4">
            <a:extLst>
              <a:ext uri="{FF2B5EF4-FFF2-40B4-BE49-F238E27FC236}">
                <a16:creationId xmlns:a16="http://schemas.microsoft.com/office/drawing/2014/main" id="{03F8BA41-3FCD-044A-8A7A-3F7056CFDCBD}"/>
              </a:ext>
            </a:extLst>
          </p:cNvPr>
          <p:cNvSpPr>
            <a:spLocks noGrp="1"/>
          </p:cNvSpPr>
          <p:nvPr>
            <p:ph type="sldNum" sz="quarter" idx="12"/>
          </p:nvPr>
        </p:nvSpPr>
        <p:spPr/>
        <p:txBody>
          <a:bodyPr/>
          <a:lstStyle/>
          <a:p>
            <a:fld id="{5E165751-051E-4045-BFA7-BDB2DD1CABB7}" type="slidenum">
              <a:rPr lang="en-US" smtClean="0"/>
              <a:pPr/>
              <a:t>7</a:t>
            </a:fld>
            <a:endParaRPr lang="en-US"/>
          </a:p>
        </p:txBody>
      </p:sp>
      <p:sp>
        <p:nvSpPr>
          <p:cNvPr id="8" name="Rectangle 7">
            <a:extLst>
              <a:ext uri="{FF2B5EF4-FFF2-40B4-BE49-F238E27FC236}">
                <a16:creationId xmlns:a16="http://schemas.microsoft.com/office/drawing/2014/main" id="{0E055C59-AD77-B847-8357-C3DFE0251968}"/>
              </a:ext>
            </a:extLst>
          </p:cNvPr>
          <p:cNvSpPr/>
          <p:nvPr/>
        </p:nvSpPr>
        <p:spPr>
          <a:xfrm>
            <a:off x="0" y="1493134"/>
            <a:ext cx="12192000" cy="4456253"/>
          </a:xfrm>
          <a:prstGeom prst="rect">
            <a:avLst/>
          </a:prstGeom>
          <a:solidFill>
            <a:srgbClr val="EDB7B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C5968B2-AD34-3E4F-A1F8-59713990C63D}"/>
              </a:ext>
            </a:extLst>
          </p:cNvPr>
          <p:cNvSpPr/>
          <p:nvPr/>
        </p:nvSpPr>
        <p:spPr>
          <a:xfrm>
            <a:off x="239211" y="1898248"/>
            <a:ext cx="5706319" cy="3634451"/>
          </a:xfrm>
          <a:prstGeom prst="rect">
            <a:avLst/>
          </a:prstGeom>
          <a:solidFill>
            <a:schemeClr val="bg1"/>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766CC43-26A2-8840-849F-50D33B664C9F}"/>
              </a:ext>
            </a:extLst>
          </p:cNvPr>
          <p:cNvSpPr/>
          <p:nvPr/>
        </p:nvSpPr>
        <p:spPr>
          <a:xfrm>
            <a:off x="6246471" y="1898248"/>
            <a:ext cx="5706319" cy="3634451"/>
          </a:xfrm>
          <a:prstGeom prst="rect">
            <a:avLst/>
          </a:prstGeom>
          <a:solidFill>
            <a:schemeClr val="bg1"/>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pic>
        <p:nvPicPr>
          <p:cNvPr id="6" name="Picture 5" descr="Text&#10;&#10;Description automatically generated">
            <a:extLst>
              <a:ext uri="{FF2B5EF4-FFF2-40B4-BE49-F238E27FC236}">
                <a16:creationId xmlns:a16="http://schemas.microsoft.com/office/drawing/2014/main" id="{4E5D53C8-4BC8-394C-858B-603F17B0F6B3}"/>
              </a:ext>
            </a:extLst>
          </p:cNvPr>
          <p:cNvPicPr/>
          <p:nvPr/>
        </p:nvPicPr>
        <p:blipFill>
          <a:blip r:embed="rId3">
            <a:extLst>
              <a:ext uri="{28A0092B-C50C-407E-A947-70E740481C1C}">
                <a14:useLocalDpi xmlns:a14="http://schemas.microsoft.com/office/drawing/2010/main" val="0"/>
              </a:ext>
            </a:extLst>
          </a:blip>
          <a:stretch>
            <a:fillRect/>
          </a:stretch>
        </p:blipFill>
        <p:spPr>
          <a:xfrm>
            <a:off x="523130" y="2382925"/>
            <a:ext cx="5204070" cy="2385845"/>
          </a:xfrm>
          <a:prstGeom prst="rect">
            <a:avLst/>
          </a:prstGeom>
        </p:spPr>
      </p:pic>
      <p:pic>
        <p:nvPicPr>
          <p:cNvPr id="7" name="Picture 6" descr="Text&#10;&#10;Description automatically generated">
            <a:extLst>
              <a:ext uri="{FF2B5EF4-FFF2-40B4-BE49-F238E27FC236}">
                <a16:creationId xmlns:a16="http://schemas.microsoft.com/office/drawing/2014/main" id="{6111B1B2-5E1C-2D42-BF13-DDF25AEDD2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37385" y="2382925"/>
            <a:ext cx="4973610" cy="2385845"/>
          </a:xfrm>
          <a:prstGeom prst="rect">
            <a:avLst/>
          </a:prstGeom>
        </p:spPr>
      </p:pic>
    </p:spTree>
    <p:extLst>
      <p:ext uri="{BB962C8B-B14F-4D97-AF65-F5344CB8AC3E}">
        <p14:creationId xmlns:p14="http://schemas.microsoft.com/office/powerpoint/2010/main" val="1590979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E871F-5152-6C4C-8D73-E795B8A85089}"/>
              </a:ext>
            </a:extLst>
          </p:cNvPr>
          <p:cNvSpPr>
            <a:spLocks noGrp="1"/>
          </p:cNvSpPr>
          <p:nvPr>
            <p:ph type="title"/>
          </p:nvPr>
        </p:nvSpPr>
        <p:spPr/>
        <p:txBody>
          <a:bodyPr/>
          <a:lstStyle/>
          <a:p>
            <a:r>
              <a:rPr lang="en-US" dirty="0"/>
              <a:t>Logistic Model</a:t>
            </a:r>
          </a:p>
        </p:txBody>
      </p:sp>
      <p:sp>
        <p:nvSpPr>
          <p:cNvPr id="4" name="Footer Placeholder 3">
            <a:extLst>
              <a:ext uri="{FF2B5EF4-FFF2-40B4-BE49-F238E27FC236}">
                <a16:creationId xmlns:a16="http://schemas.microsoft.com/office/drawing/2014/main" id="{BA1BFB1B-CA6B-8842-A605-817074B98B35}"/>
              </a:ext>
            </a:extLst>
          </p:cNvPr>
          <p:cNvSpPr>
            <a:spLocks noGrp="1"/>
          </p:cNvSpPr>
          <p:nvPr>
            <p:ph type="ftr" sz="quarter" idx="11"/>
          </p:nvPr>
        </p:nvSpPr>
        <p:spPr/>
        <p:txBody>
          <a:bodyPr/>
          <a:lstStyle/>
          <a:p>
            <a:r>
              <a:rPr lang="en-US" altLang="zh-CN"/>
              <a:t>Heart</a:t>
            </a:r>
            <a:r>
              <a:rPr lang="zh-CN" altLang="en-US"/>
              <a:t> </a:t>
            </a:r>
            <a:r>
              <a:rPr lang="en-US" altLang="zh-CN"/>
              <a:t>Disease</a:t>
            </a:r>
            <a:r>
              <a:rPr lang="zh-CN" altLang="en-US"/>
              <a:t> </a:t>
            </a:r>
            <a:r>
              <a:rPr lang="en-US" altLang="zh-CN"/>
              <a:t>Classification</a:t>
            </a:r>
            <a:endParaRPr lang="en-US" dirty="0"/>
          </a:p>
        </p:txBody>
      </p:sp>
      <p:sp>
        <p:nvSpPr>
          <p:cNvPr id="5" name="Slide Number Placeholder 4">
            <a:extLst>
              <a:ext uri="{FF2B5EF4-FFF2-40B4-BE49-F238E27FC236}">
                <a16:creationId xmlns:a16="http://schemas.microsoft.com/office/drawing/2014/main" id="{B6496C6A-987F-8048-91E3-E270008B667A}"/>
              </a:ext>
            </a:extLst>
          </p:cNvPr>
          <p:cNvSpPr>
            <a:spLocks noGrp="1"/>
          </p:cNvSpPr>
          <p:nvPr>
            <p:ph type="sldNum" sz="quarter" idx="12"/>
          </p:nvPr>
        </p:nvSpPr>
        <p:spPr/>
        <p:txBody>
          <a:bodyPr/>
          <a:lstStyle/>
          <a:p>
            <a:fld id="{5E165751-051E-4045-BFA7-BDB2DD1CABB7}" type="slidenum">
              <a:rPr lang="en-US" smtClean="0"/>
              <a:pPr/>
              <a:t>8</a:t>
            </a:fld>
            <a:endParaRPr lang="en-US"/>
          </a:p>
        </p:txBody>
      </p:sp>
      <p:pic>
        <p:nvPicPr>
          <p:cNvPr id="6" name="Picture 5" descr="Graphical user interface, text&#10;&#10;Description automatically generated">
            <a:extLst>
              <a:ext uri="{FF2B5EF4-FFF2-40B4-BE49-F238E27FC236}">
                <a16:creationId xmlns:a16="http://schemas.microsoft.com/office/drawing/2014/main" id="{DEFA3A43-9934-1D4D-B4E8-403882B0DBCA}"/>
              </a:ext>
            </a:extLst>
          </p:cNvPr>
          <p:cNvPicPr/>
          <p:nvPr/>
        </p:nvPicPr>
        <p:blipFill rotWithShape="1">
          <a:blip r:embed="rId3">
            <a:extLst>
              <a:ext uri="{28A0092B-C50C-407E-A947-70E740481C1C}">
                <a14:useLocalDpi xmlns:a14="http://schemas.microsoft.com/office/drawing/2010/main" val="0"/>
              </a:ext>
            </a:extLst>
          </a:blip>
          <a:srcRect b="144"/>
          <a:stretch/>
        </p:blipFill>
        <p:spPr bwMode="auto">
          <a:xfrm>
            <a:off x="665516" y="2008780"/>
            <a:ext cx="5942330" cy="1779905"/>
          </a:xfrm>
          <a:prstGeom prst="rect">
            <a:avLst/>
          </a:prstGeom>
          <a:ln>
            <a:noFill/>
          </a:ln>
          <a:extLst>
            <a:ext uri="{53640926-AAD7-44D8-BBD7-CCE9431645EC}">
              <a14:shadowObscured xmlns:a14="http://schemas.microsoft.com/office/drawing/2010/main"/>
            </a:ext>
          </a:extLst>
        </p:spPr>
      </p:pic>
      <p:pic>
        <p:nvPicPr>
          <p:cNvPr id="7" name="Picture 6" descr="Table&#10;&#10;Description automatically generated">
            <a:extLst>
              <a:ext uri="{FF2B5EF4-FFF2-40B4-BE49-F238E27FC236}">
                <a16:creationId xmlns:a16="http://schemas.microsoft.com/office/drawing/2014/main" id="{71B393D8-BF9D-5343-B3E2-9BF2D3EC522F}"/>
              </a:ext>
            </a:extLst>
          </p:cNvPr>
          <p:cNvPicPr/>
          <p:nvPr/>
        </p:nvPicPr>
        <p:blipFill>
          <a:blip r:embed="rId4">
            <a:extLst>
              <a:ext uri="{28A0092B-C50C-407E-A947-70E740481C1C}">
                <a14:useLocalDpi xmlns:a14="http://schemas.microsoft.com/office/drawing/2010/main" val="0"/>
              </a:ext>
            </a:extLst>
          </a:blip>
          <a:stretch>
            <a:fillRect/>
          </a:stretch>
        </p:blipFill>
        <p:spPr>
          <a:xfrm>
            <a:off x="665516" y="3775037"/>
            <a:ext cx="5943600" cy="1820545"/>
          </a:xfrm>
          <a:prstGeom prst="rect">
            <a:avLst/>
          </a:prstGeom>
        </p:spPr>
      </p:pic>
      <p:pic>
        <p:nvPicPr>
          <p:cNvPr id="8" name="Picture 7" descr="Chart, line chart&#10;&#10;Description automatically generated">
            <a:extLst>
              <a:ext uri="{FF2B5EF4-FFF2-40B4-BE49-F238E27FC236}">
                <a16:creationId xmlns:a16="http://schemas.microsoft.com/office/drawing/2014/main" id="{5A8AE7F9-B2A4-9F4F-864D-6E141DF623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18530" y="2008780"/>
            <a:ext cx="4307954" cy="3705179"/>
          </a:xfrm>
          <a:prstGeom prst="rect">
            <a:avLst/>
          </a:prstGeom>
        </p:spPr>
      </p:pic>
    </p:spTree>
    <p:extLst>
      <p:ext uri="{BB962C8B-B14F-4D97-AF65-F5344CB8AC3E}">
        <p14:creationId xmlns:p14="http://schemas.microsoft.com/office/powerpoint/2010/main" val="3562868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17926-062C-BC4F-BBDE-0B714F16E226}"/>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AC0079F0-41D0-E742-9C74-A3F51BB96C6E}"/>
              </a:ext>
            </a:extLst>
          </p:cNvPr>
          <p:cNvSpPr>
            <a:spLocks noGrp="1"/>
          </p:cNvSpPr>
          <p:nvPr>
            <p:ph idx="1"/>
          </p:nvPr>
        </p:nvSpPr>
        <p:spPr/>
        <p:txBody>
          <a:bodyPr/>
          <a:lstStyle/>
          <a:p>
            <a:r>
              <a:rPr lang="en-US" dirty="0"/>
              <a:t>Decision Tree</a:t>
            </a:r>
          </a:p>
          <a:p>
            <a:r>
              <a:rPr lang="en-US" dirty="0"/>
              <a:t>Random Forest</a:t>
            </a:r>
          </a:p>
          <a:p>
            <a:r>
              <a:rPr lang="en-US" dirty="0"/>
              <a:t>Logistic Model</a:t>
            </a:r>
          </a:p>
        </p:txBody>
      </p:sp>
      <p:sp>
        <p:nvSpPr>
          <p:cNvPr id="4" name="Footer Placeholder 3">
            <a:extLst>
              <a:ext uri="{FF2B5EF4-FFF2-40B4-BE49-F238E27FC236}">
                <a16:creationId xmlns:a16="http://schemas.microsoft.com/office/drawing/2014/main" id="{A1F1477B-9F07-1948-99F4-AA6F383BF9DE}"/>
              </a:ext>
            </a:extLst>
          </p:cNvPr>
          <p:cNvSpPr>
            <a:spLocks noGrp="1"/>
          </p:cNvSpPr>
          <p:nvPr>
            <p:ph type="ftr" sz="quarter" idx="11"/>
          </p:nvPr>
        </p:nvSpPr>
        <p:spPr/>
        <p:txBody>
          <a:bodyPr/>
          <a:lstStyle/>
          <a:p>
            <a:r>
              <a:rPr lang="en-US" altLang="zh-CN"/>
              <a:t>Heart</a:t>
            </a:r>
            <a:r>
              <a:rPr lang="zh-CN" altLang="en-US"/>
              <a:t> </a:t>
            </a:r>
            <a:r>
              <a:rPr lang="en-US" altLang="zh-CN"/>
              <a:t>Disease</a:t>
            </a:r>
            <a:r>
              <a:rPr lang="zh-CN" altLang="en-US"/>
              <a:t> </a:t>
            </a:r>
            <a:r>
              <a:rPr lang="en-US" altLang="zh-CN"/>
              <a:t>Classification</a:t>
            </a:r>
            <a:endParaRPr lang="en-US" dirty="0"/>
          </a:p>
        </p:txBody>
      </p:sp>
      <p:sp>
        <p:nvSpPr>
          <p:cNvPr id="5" name="Slide Number Placeholder 4">
            <a:extLst>
              <a:ext uri="{FF2B5EF4-FFF2-40B4-BE49-F238E27FC236}">
                <a16:creationId xmlns:a16="http://schemas.microsoft.com/office/drawing/2014/main" id="{E0818E2D-8217-6146-9418-73DE8B984D5D}"/>
              </a:ext>
            </a:extLst>
          </p:cNvPr>
          <p:cNvSpPr>
            <a:spLocks noGrp="1"/>
          </p:cNvSpPr>
          <p:nvPr>
            <p:ph type="sldNum" sz="quarter" idx="12"/>
          </p:nvPr>
        </p:nvSpPr>
        <p:spPr/>
        <p:txBody>
          <a:bodyPr/>
          <a:lstStyle/>
          <a:p>
            <a:fld id="{5E165751-051E-4045-BFA7-BDB2DD1CABB7}" type="slidenum">
              <a:rPr lang="en-US" smtClean="0"/>
              <a:pPr/>
              <a:t>9</a:t>
            </a:fld>
            <a:endParaRPr lang="en-US"/>
          </a:p>
        </p:txBody>
      </p:sp>
    </p:spTree>
    <p:extLst>
      <p:ext uri="{BB962C8B-B14F-4D97-AF65-F5344CB8AC3E}">
        <p14:creationId xmlns:p14="http://schemas.microsoft.com/office/powerpoint/2010/main" val="904936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24">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6" descr="A close up of a device&#10;&#10;Description automatically generated">
            <a:extLst>
              <a:ext uri="{FF2B5EF4-FFF2-40B4-BE49-F238E27FC236}">
                <a16:creationId xmlns:a16="http://schemas.microsoft.com/office/drawing/2014/main" id="{D8C37583-5EF0-2649-B4E4-1FAADD9B5F3D}"/>
              </a:ext>
            </a:extLst>
          </p:cNvPr>
          <p:cNvPicPr>
            <a:picLocks noChangeAspect="1"/>
          </p:cNvPicPr>
          <p:nvPr/>
        </p:nvPicPr>
        <p:blipFill rotWithShape="1">
          <a:blip r:embed="rId3">
            <a:extLst>
              <a:ext uri="{28A0092B-C50C-407E-A947-70E740481C1C}">
                <a14:useLocalDpi xmlns:a14="http://schemas.microsoft.com/office/drawing/2010/main" val="0"/>
              </a:ext>
            </a:extLst>
          </a:blip>
          <a:srcRect l="32236" t="7273" r="6524"/>
          <a:stretch/>
        </p:blipFill>
        <p:spPr>
          <a:xfrm>
            <a:off x="0" y="10"/>
            <a:ext cx="8668492" cy="6857990"/>
          </a:xfrm>
          <a:prstGeom prst="rect">
            <a:avLst/>
          </a:prstGeom>
        </p:spPr>
      </p:pic>
      <p:sp>
        <p:nvSpPr>
          <p:cNvPr id="27" name="Rectangle 26">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itle 1">
            <a:extLst>
              <a:ext uri="{FF2B5EF4-FFF2-40B4-BE49-F238E27FC236}">
                <a16:creationId xmlns:a16="http://schemas.microsoft.com/office/drawing/2014/main" id="{61405D91-88D3-FF42-B802-CA6BFFCF38DD}"/>
              </a:ext>
            </a:extLst>
          </p:cNvPr>
          <p:cNvSpPr txBox="1">
            <a:spLocks/>
          </p:cNvSpPr>
          <p:nvPr/>
        </p:nvSpPr>
        <p:spPr>
          <a:xfrm>
            <a:off x="7848600" y="1122363"/>
            <a:ext cx="4023360" cy="320413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rgbClr val="C00000"/>
                </a:solidFill>
                <a:effectLst>
                  <a:outerShdw blurRad="38100" dist="38100" dir="2700000" algn="tl">
                    <a:srgbClr val="000000">
                      <a:alpha val="43137"/>
                    </a:srgbClr>
                  </a:outerShdw>
                </a:effectLst>
                <a:latin typeface="Arial" charset="0"/>
                <a:ea typeface="Arial" charset="0"/>
                <a:cs typeface="Arial" charset="0"/>
              </a:defRPr>
            </a:lvl1pPr>
          </a:lstStyle>
          <a:p>
            <a:pPr>
              <a:spcAft>
                <a:spcPts val="600"/>
              </a:spcAft>
            </a:pPr>
            <a:r>
              <a:rPr lang="en-US" sz="4800" dirty="0">
                <a:latin typeface="+mj-lt"/>
                <a:ea typeface="+mj-ea"/>
                <a:cs typeface="+mj-cs"/>
              </a:rPr>
              <a:t>The end</a:t>
            </a:r>
          </a:p>
        </p:txBody>
      </p:sp>
      <p:sp>
        <p:nvSpPr>
          <p:cNvPr id="29" name="Rectangle 28">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1" name="Rectangle 30">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33724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1379</Words>
  <Application>Microsoft Macintosh PowerPoint</Application>
  <PresentationFormat>Widescreen</PresentationFormat>
  <Paragraphs>106</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Heart Disease Classification</vt:lpstr>
      <vt:lpstr>Content</vt:lpstr>
      <vt:lpstr>Introduction</vt:lpstr>
      <vt:lpstr>Method</vt:lpstr>
      <vt:lpstr>Analysis – Data Cleaning</vt:lpstr>
      <vt:lpstr>Analysis – Data Cleaning</vt:lpstr>
      <vt:lpstr>Analysis – Decision Tree</vt:lpstr>
      <vt:lpstr>Analysis – Random Forest</vt:lpstr>
      <vt:lpstr>Logistic Model</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Heart Disease Classification</dc:title>
  <dc:creator>Yuyi Zhang</dc:creator>
  <cp:lastModifiedBy>Yuyi Zhang</cp:lastModifiedBy>
  <cp:revision>7</cp:revision>
  <dcterms:created xsi:type="dcterms:W3CDTF">2020-10-25T03:16:04Z</dcterms:created>
  <dcterms:modified xsi:type="dcterms:W3CDTF">2020-10-25T03:54:22Z</dcterms:modified>
</cp:coreProperties>
</file>